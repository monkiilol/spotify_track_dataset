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1675"/>
  <p:notesSz cx="6858000" cy="12191675"/>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font" Target="fonts/Play-regular.fntdata"/><Relationship Id="rId18" Type="http://schemas.openxmlformats.org/officeDocument/2006/relationships/font" Target="font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proyecto trabaja con el Spotify Tracks Dataset y busca responder dos preguntas principales. Primero, qué información disponible permite estimar mejor la popularity observada de una canción. Segundo, si las características de audio permiten identificar perfiles sonoros dentro del catálogo.</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Antes de mirar resultados, organizamos la EVA2 en tres preguntas. Con supervisado buscamos estimar la popularity observada. Luego analizamos si la mejora venía de la información disponible o del algoritmo. Con no supervisado buscamos perfiles sonoros usando solo audio. El alcance es acotado: no se predicen éxitos futuros.</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problema de negocio sería apoyar decisiones de priorización o promoción de canciones. Podríamos definir KPIs como efectividad de priorización, cobertura de oportunidades y mejora frente a una referencia. Pero no podemos validarlos porque el dataset no contiene decisiones reales ni resultados posteriores.</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dataset original tiene 114 mil registros, pero una fila no equivale necesariamente a una canción. Primero limpiamos duplicados reales y un registro corrupto. Luego conservamos las relaciones canción-género válidas. Para modelar, cambiamos la unidad de análisis a track_id y consolidamos popularity con la mediana cuando una canción tenía varios valores.</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Antes de entrenar definimos un plan. Primero mantuvimos fija la Regresión Lineal y cambiamos la información para saber qué variables aportan. Luego mantuvimos fija la información combinada y cambiamos el algoritmo, comparando Lineal con Árbol. Por último, usamos K-Means solo con audio para descubrir perfiles.</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Aquí comienza el bloque supervisado. Primero usamos Regresión Lineal para comparar fuentes de información. El baseline predice siempre la mediana y obtiene MAE 17,12. Audio y estructura bajan muy poco a 16,52. Al incorporar género, el MAE baja a 11,89 y el combinado queda en 11,83. El cambio fuerte viene de la información de género.</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Después de ver que género mejora mucho el MAE, revisamos qué asociaciones aprendió la Regresión Lineal. Este gráfico no es un EDA: corresponde al modelo entrenado. Muestra géneros con coeficientes positivos y negativos extremos. La interpretación debe ser cuidadosa: asociación no significa causalidad ni calidad musical.</a:t>
            </a:r>
            <a:endParaRPr/>
          </a:p>
        </p:txBody>
      </p:sp>
      <p:sp>
        <p:nvSpPr>
          <p:cNvPr id="214" name="Google Shape;2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Luego cambiamos el algoritmo manteniendo la misma información combinada. El Árbol permite capturar relaciones no lineales e interacciones. Obtiene MAE 11,16 y R² 0,37, mejor que la Regresión Lineal combinada, pero la mejora es moderada. El mayor salto ya había ocurrido al incorporar género.</a:t>
            </a:r>
            <a:endParaRPr/>
          </a:p>
        </p:txBody>
      </p:sp>
      <p:sp>
        <p:nvSpPr>
          <p:cNvPr id="234" name="Google Shape;2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Pasamos al bloque no supervisado. K-Means se aplicó solamente sobre variables de audio estandarizadas. Popularity y género no participaron en la formación de los grupos. El codo sugiere K=4, aunque Silhouette es mayor con K=2. Elegimos K=4 porque permite describir perfiles más útiles para el análisis, pero reconocemos que la separación es limitada.</a:t>
            </a:r>
            <a:endParaRPr/>
          </a:p>
        </p:txBody>
      </p:sp>
      <p:sp>
        <p:nvSpPr>
          <p:cNvPr id="256" name="Google Shape;2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revisar los centroides, asignamos nombres interpretativos a los cuatro grupos: Bailable positivo, Suave acústico, En vivo hablado e Intenso rápido. Estos nombres los pusimos nosotros después de interpretar las características promedio, no son categorías oficiales de Spotify ni etiquetas generadas automáticamente por K-Means.</a:t>
            </a:r>
            <a:endParaRPr/>
          </a:p>
        </p:txBody>
      </p:sp>
      <p:sp>
        <p:nvSpPr>
          <p:cNvPr id="276" name="Google Shape;2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PCA se utiliza solo como apoyo visual. Los dos primeros componentes explican alrededor del 48% de la variabilidad, por lo que no muestran toda la estructura. En el gráfico se ven zonas con cierta separación y zonas de solapamiento. Además, los clusters tienen popularidades medias similares. Por eso los perfiles sirven para describir diversidad sonora, no para separar canciones populares de no populares.</a:t>
            </a:r>
            <a:endParaRPr/>
          </a:p>
        </p:txBody>
      </p:sp>
      <p:sp>
        <p:nvSpPr>
          <p:cNvPr id="305" name="Google Shape;3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conclusión integra ambos enfoques. Para estimar popularity, género ayuda mucho más que las características de audio consideradas. El Árbol obtiene el mejor resultado, pero el salto grande vino de la información. Al mismo tiempo, el audio sí organiza perfiles sonoros. No es una contradicción: son preguntas distintas. Para avanzar harían falta mejores datos y una evaluación temporal con promoción y resultados posteriores.</a:t>
            </a:r>
            <a:endParaRPr/>
          </a:p>
        </p:txBody>
      </p:sp>
      <p:sp>
        <p:nvSpPr>
          <p:cNvPr id="327" name="Google Shape;3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AF6"/>
        </a:solidFill>
      </p:bgPr>
    </p:bg>
    <p:spTree>
      <p:nvGrpSpPr>
        <p:cNvPr id="11" name="Shape 11"/>
        <p:cNvGrpSpPr/>
        <p:nvPr/>
      </p:nvGrpSpPr>
      <p:grpSpPr>
        <a:xfrm>
          <a:off x="0" y="0"/>
          <a:ext cx="0" cy="0"/>
          <a:chOff x="0" y="0"/>
          <a:chExt cx="0" cy="0"/>
        </a:xfrm>
      </p:grpSpPr>
      <p:cxnSp>
        <p:nvCxnSpPr>
          <p:cNvPr id="12" name="Google Shape;12;p2"/>
          <p:cNvCxnSpPr/>
          <p:nvPr/>
        </p:nvCxnSpPr>
        <p:spPr>
          <a:xfrm>
            <a:off x="0" y="0"/>
            <a:ext cx="12191695" cy="0"/>
          </a:xfrm>
          <a:prstGeom prst="straightConnector1">
            <a:avLst/>
          </a:prstGeom>
          <a:noFill/>
          <a:ln cap="flat" cmpd="sng" w="63500">
            <a:solidFill>
              <a:srgbClr val="1DB954"/>
            </a:solidFill>
            <a:prstDash val="solid"/>
            <a:round/>
            <a:headEnd len="sm" w="sm" type="none"/>
            <a:tailEnd len="sm" w="sm" type="none"/>
          </a:ln>
        </p:spPr>
      </p:cxnSp>
      <p:sp>
        <p:nvSpPr>
          <p:cNvPr id="13" name="Google Shape;13;p2"/>
          <p:cNvSpPr/>
          <p:nvPr/>
        </p:nvSpPr>
        <p:spPr>
          <a:xfrm>
            <a:off x="411480" y="6537960"/>
            <a:ext cx="2743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US" sz="900" u="none" cap="none" strike="noStrike">
                <a:solidFill>
                  <a:srgbClr val="6B7280"/>
                </a:solidFill>
                <a:latin typeface="Arial"/>
                <a:ea typeface="Arial"/>
                <a:cs typeface="Arial"/>
                <a:sym typeface="Arial"/>
              </a:rPr>
              <a:t>MLY1101 · Spotify Tracks</a:t>
            </a:r>
            <a:endParaRPr b="0" i="0" sz="900" u="none" cap="none" strike="noStrike">
              <a:solidFill>
                <a:schemeClr val="dk1"/>
              </a:solidFill>
              <a:latin typeface="Arial"/>
              <a:ea typeface="Arial"/>
              <a:cs typeface="Arial"/>
              <a:sym typeface="Arial"/>
            </a:endParaRPr>
          </a:p>
        </p:txBody>
      </p:sp>
      <p:sp>
        <p:nvSpPr>
          <p:cNvPr id="14" name="Google Shape;14;p2"/>
          <p:cNvSpPr txBox="1"/>
          <p:nvPr>
            <p:ph idx="12" type="sldNum"/>
          </p:nvPr>
        </p:nvSpPr>
        <p:spPr>
          <a:xfrm>
            <a:off x="11759184" y="6510528"/>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700" u="none" cap="none" strike="noStrike">
                <a:solidFill>
                  <a:srgbClr val="6B7280"/>
                </a:solidFill>
                <a:latin typeface="Arial"/>
                <a:ea typeface="Arial"/>
                <a:cs typeface="Arial"/>
                <a:sym typeface="Arial"/>
              </a:defRPr>
            </a:lvl1pPr>
            <a:lvl2pPr indent="0" lvl="1" marL="0" marR="0" algn="l">
              <a:spcBef>
                <a:spcPts val="0"/>
              </a:spcBef>
              <a:buNone/>
              <a:defRPr b="0" i="0" sz="700" u="none" cap="none" strike="noStrike">
                <a:solidFill>
                  <a:srgbClr val="6B7280"/>
                </a:solidFill>
                <a:latin typeface="Arial"/>
                <a:ea typeface="Arial"/>
                <a:cs typeface="Arial"/>
                <a:sym typeface="Arial"/>
              </a:defRPr>
            </a:lvl2pPr>
            <a:lvl3pPr indent="0" lvl="2" marL="0" marR="0" algn="l">
              <a:spcBef>
                <a:spcPts val="0"/>
              </a:spcBef>
              <a:buNone/>
              <a:defRPr b="0" i="0" sz="700" u="none" cap="none" strike="noStrike">
                <a:solidFill>
                  <a:srgbClr val="6B7280"/>
                </a:solidFill>
                <a:latin typeface="Arial"/>
                <a:ea typeface="Arial"/>
                <a:cs typeface="Arial"/>
                <a:sym typeface="Arial"/>
              </a:defRPr>
            </a:lvl3pPr>
            <a:lvl4pPr indent="0" lvl="3" marL="0" marR="0" algn="l">
              <a:spcBef>
                <a:spcPts val="0"/>
              </a:spcBef>
              <a:buNone/>
              <a:defRPr b="0" i="0" sz="700" u="none" cap="none" strike="noStrike">
                <a:solidFill>
                  <a:srgbClr val="6B7280"/>
                </a:solidFill>
                <a:latin typeface="Arial"/>
                <a:ea typeface="Arial"/>
                <a:cs typeface="Arial"/>
                <a:sym typeface="Arial"/>
              </a:defRPr>
            </a:lvl4pPr>
            <a:lvl5pPr indent="0" lvl="4" marL="0" marR="0" algn="l">
              <a:spcBef>
                <a:spcPts val="0"/>
              </a:spcBef>
              <a:buNone/>
              <a:defRPr b="0" i="0" sz="700" u="none" cap="none" strike="noStrike">
                <a:solidFill>
                  <a:srgbClr val="6B7280"/>
                </a:solidFill>
                <a:latin typeface="Arial"/>
                <a:ea typeface="Arial"/>
                <a:cs typeface="Arial"/>
                <a:sym typeface="Arial"/>
              </a:defRPr>
            </a:lvl5pPr>
            <a:lvl6pPr indent="0" lvl="5" marL="0" marR="0" algn="l">
              <a:spcBef>
                <a:spcPts val="0"/>
              </a:spcBef>
              <a:buNone/>
              <a:defRPr b="0" i="0" sz="700" u="none" cap="none" strike="noStrike">
                <a:solidFill>
                  <a:srgbClr val="6B7280"/>
                </a:solidFill>
                <a:latin typeface="Arial"/>
                <a:ea typeface="Arial"/>
                <a:cs typeface="Arial"/>
                <a:sym typeface="Arial"/>
              </a:defRPr>
            </a:lvl6pPr>
            <a:lvl7pPr indent="0" lvl="6" marL="0" marR="0" algn="l">
              <a:spcBef>
                <a:spcPts val="0"/>
              </a:spcBef>
              <a:buNone/>
              <a:defRPr b="0" i="0" sz="700" u="none" cap="none" strike="noStrike">
                <a:solidFill>
                  <a:srgbClr val="6B7280"/>
                </a:solidFill>
                <a:latin typeface="Arial"/>
                <a:ea typeface="Arial"/>
                <a:cs typeface="Arial"/>
                <a:sym typeface="Arial"/>
              </a:defRPr>
            </a:lvl7pPr>
            <a:lvl8pPr indent="0" lvl="7" marL="0" marR="0" algn="l">
              <a:spcBef>
                <a:spcPts val="0"/>
              </a:spcBef>
              <a:buNone/>
              <a:defRPr b="0" i="0" sz="700" u="none" cap="none" strike="noStrike">
                <a:solidFill>
                  <a:srgbClr val="6B7280"/>
                </a:solidFill>
                <a:latin typeface="Arial"/>
                <a:ea typeface="Arial"/>
                <a:cs typeface="Arial"/>
                <a:sym typeface="Arial"/>
              </a:defRPr>
            </a:lvl8pPr>
            <a:lvl9pPr indent="0" lvl="8" marL="0" marR="0" algn="l">
              <a:spcBef>
                <a:spcPts val="0"/>
              </a:spcBef>
              <a:buNone/>
              <a:defRPr b="0" i="0" sz="700" u="none" cap="none" strike="noStrike">
                <a:solidFill>
                  <a:srgbClr val="6B728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759184" y="6510528"/>
            <a:ext cx="800000" cy="3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700" u="none" cap="none" strike="noStrike">
                <a:solidFill>
                  <a:srgbClr val="6B7280"/>
                </a:solidFill>
                <a:latin typeface="Arial"/>
                <a:ea typeface="Arial"/>
                <a:cs typeface="Arial"/>
                <a:sym typeface="Arial"/>
              </a:defRPr>
            </a:lvl1pPr>
            <a:lvl2pPr indent="0" lvl="1" marL="0" marR="0" rtl="0" algn="l">
              <a:spcBef>
                <a:spcPts val="0"/>
              </a:spcBef>
              <a:buNone/>
              <a:defRPr b="0" i="0" sz="700" u="none" cap="none" strike="noStrike">
                <a:solidFill>
                  <a:srgbClr val="6B7280"/>
                </a:solidFill>
                <a:latin typeface="Arial"/>
                <a:ea typeface="Arial"/>
                <a:cs typeface="Arial"/>
                <a:sym typeface="Arial"/>
              </a:defRPr>
            </a:lvl2pPr>
            <a:lvl3pPr indent="0" lvl="2" marL="0" marR="0" rtl="0" algn="l">
              <a:spcBef>
                <a:spcPts val="0"/>
              </a:spcBef>
              <a:buNone/>
              <a:defRPr b="0" i="0" sz="700" u="none" cap="none" strike="noStrike">
                <a:solidFill>
                  <a:srgbClr val="6B7280"/>
                </a:solidFill>
                <a:latin typeface="Arial"/>
                <a:ea typeface="Arial"/>
                <a:cs typeface="Arial"/>
                <a:sym typeface="Arial"/>
              </a:defRPr>
            </a:lvl3pPr>
            <a:lvl4pPr indent="0" lvl="3" marL="0" marR="0" rtl="0" algn="l">
              <a:spcBef>
                <a:spcPts val="0"/>
              </a:spcBef>
              <a:buNone/>
              <a:defRPr b="0" i="0" sz="700" u="none" cap="none" strike="noStrike">
                <a:solidFill>
                  <a:srgbClr val="6B7280"/>
                </a:solidFill>
                <a:latin typeface="Arial"/>
                <a:ea typeface="Arial"/>
                <a:cs typeface="Arial"/>
                <a:sym typeface="Arial"/>
              </a:defRPr>
            </a:lvl4pPr>
            <a:lvl5pPr indent="0" lvl="4" marL="0" marR="0" rtl="0" algn="l">
              <a:spcBef>
                <a:spcPts val="0"/>
              </a:spcBef>
              <a:buNone/>
              <a:defRPr b="0" i="0" sz="700" u="none" cap="none" strike="noStrike">
                <a:solidFill>
                  <a:srgbClr val="6B7280"/>
                </a:solidFill>
                <a:latin typeface="Arial"/>
                <a:ea typeface="Arial"/>
                <a:cs typeface="Arial"/>
                <a:sym typeface="Arial"/>
              </a:defRPr>
            </a:lvl5pPr>
            <a:lvl6pPr indent="0" lvl="5" marL="0" marR="0" rtl="0" algn="l">
              <a:spcBef>
                <a:spcPts val="0"/>
              </a:spcBef>
              <a:buNone/>
              <a:defRPr b="0" i="0" sz="700" u="none" cap="none" strike="noStrike">
                <a:solidFill>
                  <a:srgbClr val="6B7280"/>
                </a:solidFill>
                <a:latin typeface="Arial"/>
                <a:ea typeface="Arial"/>
                <a:cs typeface="Arial"/>
                <a:sym typeface="Arial"/>
              </a:defRPr>
            </a:lvl6pPr>
            <a:lvl7pPr indent="0" lvl="6" marL="0" marR="0" rtl="0" algn="l">
              <a:spcBef>
                <a:spcPts val="0"/>
              </a:spcBef>
              <a:buNone/>
              <a:defRPr b="0" i="0" sz="700" u="none" cap="none" strike="noStrike">
                <a:solidFill>
                  <a:srgbClr val="6B7280"/>
                </a:solidFill>
                <a:latin typeface="Arial"/>
                <a:ea typeface="Arial"/>
                <a:cs typeface="Arial"/>
                <a:sym typeface="Arial"/>
              </a:defRPr>
            </a:lvl7pPr>
            <a:lvl8pPr indent="0" lvl="7" marL="0" marR="0" rtl="0" algn="l">
              <a:spcBef>
                <a:spcPts val="0"/>
              </a:spcBef>
              <a:buNone/>
              <a:defRPr b="0" i="0" sz="700" u="none" cap="none" strike="noStrike">
                <a:solidFill>
                  <a:srgbClr val="6B7280"/>
                </a:solidFill>
                <a:latin typeface="Arial"/>
                <a:ea typeface="Arial"/>
                <a:cs typeface="Arial"/>
                <a:sym typeface="Arial"/>
              </a:defRPr>
            </a:lvl8pPr>
            <a:lvl9pPr indent="0" lvl="8" marL="0" marR="0" rtl="0" algn="l">
              <a:spcBef>
                <a:spcPts val="0"/>
              </a:spcBef>
              <a:buNone/>
              <a:defRPr b="0" i="0" sz="700" u="none" cap="none" strike="noStrike">
                <a:solidFill>
                  <a:srgbClr val="6B728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14"/>
        </a:solidFill>
      </p:bgPr>
    </p:bg>
    <p:spTree>
      <p:nvGrpSpPr>
        <p:cNvPr id="20" name="Shape 20"/>
        <p:cNvGrpSpPr/>
        <p:nvPr/>
      </p:nvGrpSpPr>
      <p:grpSpPr>
        <a:xfrm>
          <a:off x="0" y="0"/>
          <a:ext cx="0" cy="0"/>
          <a:chOff x="0" y="0"/>
          <a:chExt cx="0" cy="0"/>
        </a:xfrm>
      </p:grpSpPr>
      <p:sp>
        <p:nvSpPr>
          <p:cNvPr id="21" name="Google Shape;21;p4"/>
          <p:cNvSpPr/>
          <p:nvPr/>
        </p:nvSpPr>
        <p:spPr>
          <a:xfrm>
            <a:off x="0" y="0"/>
            <a:ext cx="12191695" cy="6858000"/>
          </a:xfrm>
          <a:prstGeom prst="rect">
            <a:avLst/>
          </a:prstGeom>
          <a:solidFill>
            <a:srgbClr val="0B1F14"/>
          </a:solidFill>
          <a:ln cap="flat" cmpd="sng" w="12700">
            <a:solidFill>
              <a:srgbClr val="0B1F1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2" name="Google Shape;22;p4"/>
          <p:cNvSpPr/>
          <p:nvPr/>
        </p:nvSpPr>
        <p:spPr>
          <a:xfrm>
            <a:off x="8601304" y="3587877"/>
            <a:ext cx="106070" cy="596646"/>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3" name="Google Shape;23;p4"/>
          <p:cNvSpPr/>
          <p:nvPr/>
        </p:nvSpPr>
        <p:spPr>
          <a:xfrm>
            <a:off x="8839962" y="3322701"/>
            <a:ext cx="106070" cy="1126998"/>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4" name="Google Shape;24;p4"/>
          <p:cNvSpPr/>
          <p:nvPr/>
        </p:nvSpPr>
        <p:spPr>
          <a:xfrm>
            <a:off x="9078620" y="3057525"/>
            <a:ext cx="106070" cy="1657350"/>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5" name="Google Shape;25;p4"/>
          <p:cNvSpPr/>
          <p:nvPr/>
        </p:nvSpPr>
        <p:spPr>
          <a:xfrm>
            <a:off x="9317279" y="2792349"/>
            <a:ext cx="106070" cy="2187702"/>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6" name="Google Shape;26;p4"/>
          <p:cNvSpPr/>
          <p:nvPr/>
        </p:nvSpPr>
        <p:spPr>
          <a:xfrm>
            <a:off x="9555937" y="3190113"/>
            <a:ext cx="106070" cy="1392174"/>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7" name="Google Shape;27;p4"/>
          <p:cNvSpPr/>
          <p:nvPr/>
        </p:nvSpPr>
        <p:spPr>
          <a:xfrm>
            <a:off x="9794596" y="2593467"/>
            <a:ext cx="106070" cy="2585466"/>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8" name="Google Shape;28;p4"/>
          <p:cNvSpPr/>
          <p:nvPr/>
        </p:nvSpPr>
        <p:spPr>
          <a:xfrm>
            <a:off x="10033254" y="2858643"/>
            <a:ext cx="106070" cy="2055114"/>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9" name="Google Shape;29;p4"/>
          <p:cNvSpPr/>
          <p:nvPr/>
        </p:nvSpPr>
        <p:spPr>
          <a:xfrm>
            <a:off x="10271912" y="3289554"/>
            <a:ext cx="106070" cy="1193292"/>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0" name="Google Shape;30;p4"/>
          <p:cNvSpPr/>
          <p:nvPr/>
        </p:nvSpPr>
        <p:spPr>
          <a:xfrm>
            <a:off x="10510571" y="2991231"/>
            <a:ext cx="106070" cy="1789938"/>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1" name="Google Shape;31;p4"/>
          <p:cNvSpPr/>
          <p:nvPr/>
        </p:nvSpPr>
        <p:spPr>
          <a:xfrm>
            <a:off x="10749229" y="3455289"/>
            <a:ext cx="106070" cy="861822"/>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2" name="Google Shape;32;p4"/>
          <p:cNvSpPr/>
          <p:nvPr/>
        </p:nvSpPr>
        <p:spPr>
          <a:xfrm>
            <a:off x="10987888" y="3123819"/>
            <a:ext cx="106070" cy="1524762"/>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3" name="Google Shape;33;p4"/>
          <p:cNvSpPr/>
          <p:nvPr/>
        </p:nvSpPr>
        <p:spPr>
          <a:xfrm>
            <a:off x="11226546" y="2726055"/>
            <a:ext cx="106070" cy="2320290"/>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4" name="Google Shape;34;p4"/>
          <p:cNvSpPr/>
          <p:nvPr/>
        </p:nvSpPr>
        <p:spPr>
          <a:xfrm>
            <a:off x="594360" y="914400"/>
            <a:ext cx="4114800"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DB954"/>
              </a:buClr>
              <a:buSzPts val="1600"/>
              <a:buFont typeface="Arial"/>
              <a:buNone/>
            </a:pPr>
            <a:r>
              <a:rPr b="1" i="0" lang="en-US" sz="1600" u="none" cap="none" strike="noStrike">
                <a:solidFill>
                  <a:srgbClr val="1DB954"/>
                </a:solidFill>
                <a:latin typeface="Arial"/>
                <a:ea typeface="Arial"/>
                <a:cs typeface="Arial"/>
                <a:sym typeface="Arial"/>
              </a:rPr>
              <a:t>SPOTIFY TRACKS</a:t>
            </a:r>
            <a:endParaRPr b="0" i="0" sz="1600" u="none" cap="none" strike="noStrike">
              <a:solidFill>
                <a:schemeClr val="dk1"/>
              </a:solidFill>
              <a:latin typeface="Arial"/>
              <a:ea typeface="Arial"/>
              <a:cs typeface="Arial"/>
              <a:sym typeface="Arial"/>
            </a:endParaRPr>
          </a:p>
        </p:txBody>
      </p:sp>
      <p:sp>
        <p:nvSpPr>
          <p:cNvPr id="35" name="Google Shape;35;p4"/>
          <p:cNvSpPr/>
          <p:nvPr/>
        </p:nvSpPr>
        <p:spPr>
          <a:xfrm>
            <a:off x="594360" y="1371600"/>
            <a:ext cx="7772400" cy="141732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FFFFFF"/>
              </a:buClr>
              <a:buSzPts val="4000"/>
              <a:buFont typeface="Play"/>
              <a:buNone/>
            </a:pPr>
            <a:r>
              <a:rPr b="1" i="0" lang="en-US" sz="4000" u="none" cap="none" strike="noStrike">
                <a:solidFill>
                  <a:srgbClr val="FFFFFF"/>
                </a:solidFill>
                <a:latin typeface="Play"/>
                <a:ea typeface="Play"/>
                <a:cs typeface="Play"/>
                <a:sym typeface="Play"/>
              </a:rPr>
              <a:t>Machine Learning aplicado a</a:t>
            </a:r>
            <a:endParaRPr b="0" i="0" sz="40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4000"/>
              <a:buFont typeface="Play"/>
              <a:buNone/>
            </a:pPr>
            <a:r>
              <a:rPr b="1" i="0" lang="en-US" sz="4000" u="none" cap="none" strike="noStrike">
                <a:solidFill>
                  <a:srgbClr val="FFFFFF"/>
                </a:solidFill>
                <a:latin typeface="Play"/>
                <a:ea typeface="Play"/>
                <a:cs typeface="Play"/>
                <a:sym typeface="Play"/>
              </a:rPr>
              <a:t>popularidad y perfiles sonoros</a:t>
            </a:r>
            <a:endParaRPr b="0" i="0" sz="4000" u="none" cap="none" strike="noStrike">
              <a:solidFill>
                <a:schemeClr val="dk1"/>
              </a:solidFill>
              <a:latin typeface="Arial"/>
              <a:ea typeface="Arial"/>
              <a:cs typeface="Arial"/>
              <a:sym typeface="Arial"/>
            </a:endParaRPr>
          </a:p>
        </p:txBody>
      </p:sp>
      <p:sp>
        <p:nvSpPr>
          <p:cNvPr id="36" name="Google Shape;36;p4"/>
          <p:cNvSpPr/>
          <p:nvPr/>
        </p:nvSpPr>
        <p:spPr>
          <a:xfrm>
            <a:off x="594360" y="2926080"/>
            <a:ext cx="594360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C7D1CA"/>
              </a:buClr>
              <a:buSzPts val="2000"/>
              <a:buFont typeface="Arial"/>
              <a:buNone/>
            </a:pPr>
            <a:r>
              <a:rPr b="0" i="0" lang="en-US" sz="2000" u="none" cap="none" strike="noStrike">
                <a:solidFill>
                  <a:srgbClr val="C7D1CA"/>
                </a:solidFill>
                <a:latin typeface="Arial"/>
                <a:ea typeface="Arial"/>
                <a:cs typeface="Arial"/>
                <a:sym typeface="Arial"/>
              </a:rPr>
              <a:t>Evaluación Parcial 2 · MLY1101</a:t>
            </a:r>
            <a:endParaRPr b="0" i="0" sz="2000" u="none" cap="none" strike="noStrike">
              <a:solidFill>
                <a:schemeClr val="dk1"/>
              </a:solidFill>
              <a:latin typeface="Arial"/>
              <a:ea typeface="Arial"/>
              <a:cs typeface="Arial"/>
              <a:sym typeface="Arial"/>
            </a:endParaRPr>
          </a:p>
        </p:txBody>
      </p:sp>
      <p:cxnSp>
        <p:nvCxnSpPr>
          <p:cNvPr id="37" name="Google Shape;37;p4"/>
          <p:cNvCxnSpPr/>
          <p:nvPr/>
        </p:nvCxnSpPr>
        <p:spPr>
          <a:xfrm>
            <a:off x="594360" y="3493008"/>
            <a:ext cx="5120640" cy="0"/>
          </a:xfrm>
          <a:prstGeom prst="straightConnector1">
            <a:avLst/>
          </a:prstGeom>
          <a:noFill/>
          <a:ln cap="flat" cmpd="sng" w="11425">
            <a:solidFill>
              <a:srgbClr val="395447"/>
            </a:solidFill>
            <a:prstDash val="solid"/>
            <a:round/>
            <a:headEnd len="sm" w="sm" type="none"/>
            <a:tailEnd len="sm" w="sm" type="none"/>
          </a:ln>
        </p:spPr>
      </p:cxnSp>
      <p:sp>
        <p:nvSpPr>
          <p:cNvPr id="38" name="Google Shape;38;p4"/>
          <p:cNvSpPr/>
          <p:nvPr/>
        </p:nvSpPr>
        <p:spPr>
          <a:xfrm>
            <a:off x="594360" y="3712464"/>
            <a:ext cx="594360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Preguntas centrales</a:t>
            </a:r>
            <a:endParaRPr b="0" i="0" sz="2000" u="none" cap="none" strike="noStrike">
              <a:solidFill>
                <a:schemeClr val="dk1"/>
              </a:solidFill>
              <a:latin typeface="Arial"/>
              <a:ea typeface="Arial"/>
              <a:cs typeface="Arial"/>
              <a:sym typeface="Arial"/>
            </a:endParaRPr>
          </a:p>
        </p:txBody>
      </p:sp>
      <p:sp>
        <p:nvSpPr>
          <p:cNvPr id="39" name="Google Shape;39;p4"/>
          <p:cNvSpPr/>
          <p:nvPr/>
        </p:nvSpPr>
        <p:spPr>
          <a:xfrm>
            <a:off x="594360" y="4169664"/>
            <a:ext cx="7315200" cy="73152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C7D1CA"/>
              </a:buClr>
              <a:buSzPts val="2000"/>
              <a:buFont typeface="Arial"/>
              <a:buNone/>
            </a:pPr>
            <a:r>
              <a:rPr b="0" i="0" lang="en-US" sz="2000" u="none" cap="none" strike="noStrike">
                <a:solidFill>
                  <a:srgbClr val="C7D1CA"/>
                </a:solidFill>
                <a:latin typeface="Arial"/>
                <a:ea typeface="Arial"/>
                <a:cs typeface="Arial"/>
                <a:sym typeface="Arial"/>
              </a:rPr>
              <a:t>¿Qué información ayuda a estimar popularity?</a:t>
            </a:r>
            <a:endParaRPr b="0" i="0" sz="20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7D1CA"/>
              </a:buClr>
              <a:buSzPts val="2000"/>
              <a:buFont typeface="Arial"/>
              <a:buNone/>
            </a:pPr>
            <a:r>
              <a:rPr b="0" i="0" lang="en-US" sz="2000" u="none" cap="none" strike="noStrike">
                <a:solidFill>
                  <a:srgbClr val="C7D1CA"/>
                </a:solidFill>
                <a:latin typeface="Arial"/>
                <a:ea typeface="Arial"/>
                <a:cs typeface="Arial"/>
                <a:sym typeface="Arial"/>
              </a:rPr>
              <a:t>¿Qué perfiles sonoros podemos identificar?</a:t>
            </a:r>
            <a:endParaRPr b="0" i="0" sz="2000" u="none" cap="none" strike="noStrike">
              <a:solidFill>
                <a:schemeClr val="dk1"/>
              </a:solidFill>
              <a:latin typeface="Arial"/>
              <a:ea typeface="Arial"/>
              <a:cs typeface="Arial"/>
              <a:sym typeface="Arial"/>
            </a:endParaRPr>
          </a:p>
        </p:txBody>
      </p:sp>
      <p:sp>
        <p:nvSpPr>
          <p:cNvPr id="40" name="Google Shape;40;p4"/>
          <p:cNvSpPr/>
          <p:nvPr/>
        </p:nvSpPr>
        <p:spPr>
          <a:xfrm>
            <a:off x="11247120" y="6437376"/>
            <a:ext cx="502920" cy="237744"/>
          </a:xfrm>
          <a:prstGeom prst="rect">
            <a:avLst/>
          </a:prstGeom>
          <a:noFill/>
          <a:ln>
            <a:noFill/>
          </a:ln>
        </p:spPr>
        <p:txBody>
          <a:bodyPr anchorCtr="0" anchor="ctr" bIns="18288" lIns="27432" spcFirstLastPara="1" rIns="27432" wrap="square" tIns="18288">
            <a:normAutofit/>
          </a:bodyPr>
          <a:lstStyle/>
          <a:p>
            <a:pPr indent="0" lvl="0" marL="0" marR="0" rtl="0" algn="r">
              <a:spcBef>
                <a:spcPts val="0"/>
              </a:spcBef>
              <a:spcAft>
                <a:spcPts val="0"/>
              </a:spcAft>
              <a:buClr>
                <a:srgbClr val="C7D1CA"/>
              </a:buClr>
              <a:buSzPts val="1200"/>
              <a:buFont typeface="Arial"/>
              <a:buNone/>
            </a:pPr>
            <a:r>
              <a:rPr b="0" i="0" lang="en-US" sz="1200" u="none" cap="none" strike="noStrike">
                <a:solidFill>
                  <a:srgbClr val="C7D1CA"/>
                </a:solidFill>
                <a:latin typeface="Arial"/>
                <a:ea typeface="Arial"/>
                <a:cs typeface="Arial"/>
                <a:sym typeface="Arial"/>
              </a:rPr>
              <a:t>01</a:t>
            </a:r>
            <a:endParaRPr b="0" i="0" sz="1200" u="none" cap="none" strike="noStrike">
              <a:solidFill>
                <a:schemeClr val="dk1"/>
              </a:solidFill>
              <a:latin typeface="Arial"/>
              <a:ea typeface="Arial"/>
              <a:cs typeface="Arial"/>
              <a:sym typeface="Arial"/>
            </a:endParaRPr>
          </a:p>
        </p:txBody>
      </p:sp>
      <p:sp>
        <p:nvSpPr>
          <p:cNvPr id="41" name="Google Shape;41;p4"/>
          <p:cNvSpPr txBox="1"/>
          <p:nvPr>
            <p:ph idx="4294967295" type="sldNum"/>
          </p:nvPr>
        </p:nvSpPr>
        <p:spPr>
          <a:xfrm>
            <a:off x="11759184" y="6510528"/>
            <a:ext cx="411480" cy="301752"/>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700" u="none" cap="none" strike="noStrike">
                <a:solidFill>
                  <a:srgbClr val="6B7280"/>
                </a:solidFill>
                <a:latin typeface="Arial"/>
                <a:ea typeface="Arial"/>
                <a:cs typeface="Arial"/>
                <a:sym typeface="Arial"/>
              </a:rPr>
              <a:t>‹#›</a:t>
            </a:fld>
            <a:endParaRPr b="0" i="0" sz="700" u="none" cap="none" strike="noStrike">
              <a:solidFill>
                <a:srgbClr val="6B728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5"/>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01 · MAPA DE LA EVA2</a:t>
            </a:r>
            <a:endParaRPr b="0" i="0" sz="1300" u="none" cap="none" strike="noStrike">
              <a:solidFill>
                <a:schemeClr val="dk1"/>
              </a:solidFill>
              <a:latin typeface="Arial"/>
              <a:ea typeface="Arial"/>
              <a:cs typeface="Arial"/>
              <a:sym typeface="Arial"/>
            </a:endParaRPr>
          </a:p>
        </p:txBody>
      </p:sp>
      <p:sp>
        <p:nvSpPr>
          <p:cNvPr id="48" name="Google Shape;48;p5"/>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¿Qué investigamos en esta evaluación?</a:t>
            </a:r>
            <a:endParaRPr b="0" i="0" sz="3400" u="none" cap="none" strike="noStrike">
              <a:solidFill>
                <a:schemeClr val="dk1"/>
              </a:solidFill>
              <a:latin typeface="Arial"/>
              <a:ea typeface="Arial"/>
              <a:cs typeface="Arial"/>
              <a:sym typeface="Arial"/>
            </a:endParaRPr>
          </a:p>
        </p:txBody>
      </p:sp>
      <p:sp>
        <p:nvSpPr>
          <p:cNvPr id="49" name="Google Shape;49;p5"/>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La EVA2 incorpora modelamiento supervisado, no supervisado e interpretación de resultados.</a:t>
            </a:r>
            <a:endParaRPr b="0" i="0" sz="2000" u="none" cap="none" strike="noStrike">
              <a:solidFill>
                <a:schemeClr val="dk1"/>
              </a:solidFill>
              <a:latin typeface="Arial"/>
              <a:ea typeface="Arial"/>
              <a:cs typeface="Arial"/>
              <a:sym typeface="Arial"/>
            </a:endParaRPr>
          </a:p>
        </p:txBody>
      </p:sp>
      <p:sp>
        <p:nvSpPr>
          <p:cNvPr id="50" name="Google Shape;50;p5"/>
          <p:cNvSpPr/>
          <p:nvPr/>
        </p:nvSpPr>
        <p:spPr>
          <a:xfrm>
            <a:off x="411480" y="1645920"/>
            <a:ext cx="3605784" cy="2670048"/>
          </a:xfrm>
          <a:prstGeom prst="roundRect">
            <a:avLst>
              <a:gd fmla="val 5405"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51" name="Google Shape;51;p5"/>
          <p:cNvSpPr/>
          <p:nvPr/>
        </p:nvSpPr>
        <p:spPr>
          <a:xfrm>
            <a:off x="576072" y="1810512"/>
            <a:ext cx="530352" cy="60350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3400"/>
              <a:buFont typeface="Arial"/>
              <a:buNone/>
            </a:pPr>
            <a:r>
              <a:rPr b="1" i="0" lang="en-US" sz="3400" u="none" cap="none" strike="noStrike">
                <a:solidFill>
                  <a:srgbClr val="168A43"/>
                </a:solidFill>
                <a:latin typeface="Arial"/>
                <a:ea typeface="Arial"/>
                <a:cs typeface="Arial"/>
                <a:sym typeface="Arial"/>
              </a:rPr>
              <a:t>ŷ</a:t>
            </a:r>
            <a:endParaRPr b="0" i="0" sz="3400" u="none" cap="none" strike="noStrike">
              <a:solidFill>
                <a:schemeClr val="dk1"/>
              </a:solidFill>
              <a:latin typeface="Arial"/>
              <a:ea typeface="Arial"/>
              <a:cs typeface="Arial"/>
              <a:sym typeface="Arial"/>
            </a:endParaRPr>
          </a:p>
        </p:txBody>
      </p:sp>
      <p:sp>
        <p:nvSpPr>
          <p:cNvPr id="52" name="Google Shape;52;p5"/>
          <p:cNvSpPr/>
          <p:nvPr/>
        </p:nvSpPr>
        <p:spPr>
          <a:xfrm>
            <a:off x="1124712" y="1856232"/>
            <a:ext cx="2846832" cy="51206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Supervisado</a:t>
            </a:r>
            <a:endParaRPr b="0" i="0" sz="1900" u="none" cap="none" strike="noStrike">
              <a:solidFill>
                <a:schemeClr val="dk1"/>
              </a:solidFill>
              <a:latin typeface="Arial"/>
              <a:ea typeface="Arial"/>
              <a:cs typeface="Arial"/>
              <a:sym typeface="Arial"/>
            </a:endParaRPr>
          </a:p>
        </p:txBody>
      </p:sp>
      <p:sp>
        <p:nvSpPr>
          <p:cNvPr id="53" name="Google Shape;53;p5"/>
          <p:cNvSpPr/>
          <p:nvPr/>
        </p:nvSpPr>
        <p:spPr>
          <a:xfrm>
            <a:off x="484632" y="2560320"/>
            <a:ext cx="3459480" cy="157276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Estimar popularity observada</a:t>
            </a:r>
            <a:endParaRPr b="0" i="0" sz="2400" u="none" cap="none" strike="noStrike">
              <a:solidFill>
                <a:schemeClr val="dk1"/>
              </a:solidFill>
              <a:latin typeface="Arial"/>
              <a:ea typeface="Arial"/>
              <a:cs typeface="Arial"/>
              <a:sym typeface="Arial"/>
            </a:endParaRPr>
          </a:p>
        </p:txBody>
      </p:sp>
      <p:sp>
        <p:nvSpPr>
          <p:cNvPr id="54" name="Google Shape;54;p5"/>
          <p:cNvSpPr/>
          <p:nvPr/>
        </p:nvSpPr>
        <p:spPr>
          <a:xfrm>
            <a:off x="4291584" y="1645920"/>
            <a:ext cx="3605784" cy="2670048"/>
          </a:xfrm>
          <a:prstGeom prst="roundRect">
            <a:avLst>
              <a:gd fmla="val 5405"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55" name="Google Shape;55;p5"/>
          <p:cNvSpPr/>
          <p:nvPr/>
        </p:nvSpPr>
        <p:spPr>
          <a:xfrm>
            <a:off x="4456176" y="1810512"/>
            <a:ext cx="530352" cy="60350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3400"/>
              <a:buFont typeface="Arial"/>
              <a:buNone/>
            </a:pPr>
            <a:r>
              <a:rPr b="1" i="0" lang="en-US" sz="3400" u="none" cap="none" strike="noStrike">
                <a:solidFill>
                  <a:srgbClr val="2E63A2"/>
                </a:solidFill>
                <a:latin typeface="Arial"/>
                <a:ea typeface="Arial"/>
                <a:cs typeface="Arial"/>
                <a:sym typeface="Arial"/>
              </a:rPr>
              <a:t>Δ</a:t>
            </a:r>
            <a:endParaRPr b="0" i="0" sz="3400" u="none" cap="none" strike="noStrike">
              <a:solidFill>
                <a:schemeClr val="dk1"/>
              </a:solidFill>
              <a:latin typeface="Arial"/>
              <a:ea typeface="Arial"/>
              <a:cs typeface="Arial"/>
              <a:sym typeface="Arial"/>
            </a:endParaRPr>
          </a:p>
        </p:txBody>
      </p:sp>
      <p:sp>
        <p:nvSpPr>
          <p:cNvPr id="56" name="Google Shape;56;p5"/>
          <p:cNvSpPr/>
          <p:nvPr/>
        </p:nvSpPr>
        <p:spPr>
          <a:xfrm>
            <a:off x="5004816" y="1856232"/>
            <a:ext cx="2846832" cy="51206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Aporte de información</a:t>
            </a:r>
            <a:endParaRPr b="0" i="0" sz="1900" u="none" cap="none" strike="noStrike">
              <a:solidFill>
                <a:schemeClr val="dk1"/>
              </a:solidFill>
              <a:latin typeface="Arial"/>
              <a:ea typeface="Arial"/>
              <a:cs typeface="Arial"/>
              <a:sym typeface="Arial"/>
            </a:endParaRPr>
          </a:p>
        </p:txBody>
      </p:sp>
      <p:sp>
        <p:nvSpPr>
          <p:cNvPr id="57" name="Google Shape;57;p5"/>
          <p:cNvSpPr/>
          <p:nvPr/>
        </p:nvSpPr>
        <p:spPr>
          <a:xfrm>
            <a:off x="4364736" y="2560320"/>
            <a:ext cx="3459480" cy="157276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Separar audio, género y combinación</a:t>
            </a:r>
            <a:endParaRPr b="0" i="0" sz="2400" u="none" cap="none" strike="noStrike">
              <a:solidFill>
                <a:schemeClr val="dk1"/>
              </a:solidFill>
              <a:latin typeface="Arial"/>
              <a:ea typeface="Arial"/>
              <a:cs typeface="Arial"/>
              <a:sym typeface="Arial"/>
            </a:endParaRPr>
          </a:p>
        </p:txBody>
      </p:sp>
      <p:sp>
        <p:nvSpPr>
          <p:cNvPr id="58" name="Google Shape;58;p5"/>
          <p:cNvSpPr/>
          <p:nvPr/>
        </p:nvSpPr>
        <p:spPr>
          <a:xfrm>
            <a:off x="8171688" y="1645920"/>
            <a:ext cx="3605784" cy="2670048"/>
          </a:xfrm>
          <a:prstGeom prst="roundRect">
            <a:avLst>
              <a:gd fmla="val 5405"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59" name="Google Shape;59;p5"/>
          <p:cNvSpPr/>
          <p:nvPr/>
        </p:nvSpPr>
        <p:spPr>
          <a:xfrm>
            <a:off x="8336280" y="1810512"/>
            <a:ext cx="530352" cy="60350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3400"/>
              <a:buFont typeface="Arial"/>
              <a:buNone/>
            </a:pPr>
            <a:r>
              <a:rPr b="1" i="0" lang="en-US" sz="3400" u="none" cap="none" strike="noStrike">
                <a:solidFill>
                  <a:srgbClr val="8A6D00"/>
                </a:solidFill>
                <a:latin typeface="Arial"/>
                <a:ea typeface="Arial"/>
                <a:cs typeface="Arial"/>
                <a:sym typeface="Arial"/>
              </a:rPr>
              <a:t>K</a:t>
            </a:r>
            <a:endParaRPr b="0" i="0" sz="3400" u="none" cap="none" strike="noStrike">
              <a:solidFill>
                <a:schemeClr val="dk1"/>
              </a:solidFill>
              <a:latin typeface="Arial"/>
              <a:ea typeface="Arial"/>
              <a:cs typeface="Arial"/>
              <a:sym typeface="Arial"/>
            </a:endParaRPr>
          </a:p>
        </p:txBody>
      </p:sp>
      <p:sp>
        <p:nvSpPr>
          <p:cNvPr id="60" name="Google Shape;60;p5"/>
          <p:cNvSpPr/>
          <p:nvPr/>
        </p:nvSpPr>
        <p:spPr>
          <a:xfrm>
            <a:off x="8884920" y="1856232"/>
            <a:ext cx="2846832" cy="51206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No supervisado</a:t>
            </a:r>
            <a:endParaRPr b="0" i="0" sz="1900" u="none" cap="none" strike="noStrike">
              <a:solidFill>
                <a:schemeClr val="dk1"/>
              </a:solidFill>
              <a:latin typeface="Arial"/>
              <a:ea typeface="Arial"/>
              <a:cs typeface="Arial"/>
              <a:sym typeface="Arial"/>
            </a:endParaRPr>
          </a:p>
        </p:txBody>
      </p:sp>
      <p:sp>
        <p:nvSpPr>
          <p:cNvPr id="61" name="Google Shape;61;p5"/>
          <p:cNvSpPr/>
          <p:nvPr/>
        </p:nvSpPr>
        <p:spPr>
          <a:xfrm>
            <a:off x="8244840" y="2560320"/>
            <a:ext cx="3459480" cy="157276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Descubrir perfiles sonoros sin popularity</a:t>
            </a:r>
            <a:endParaRPr b="0" i="0" sz="2400" u="none" cap="none" strike="noStrike">
              <a:solidFill>
                <a:schemeClr val="dk1"/>
              </a:solidFill>
              <a:latin typeface="Arial"/>
              <a:ea typeface="Arial"/>
              <a:cs typeface="Arial"/>
              <a:sym typeface="Arial"/>
            </a:endParaRPr>
          </a:p>
        </p:txBody>
      </p:sp>
      <p:sp>
        <p:nvSpPr>
          <p:cNvPr id="62" name="Google Shape;62;p5"/>
          <p:cNvSpPr/>
          <p:nvPr/>
        </p:nvSpPr>
        <p:spPr>
          <a:xfrm>
            <a:off x="868680" y="4663440"/>
            <a:ext cx="10451592" cy="1042416"/>
          </a:xfrm>
          <a:prstGeom prst="roundRect">
            <a:avLst>
              <a:gd fmla="val 11111"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63" name="Google Shape;63;p5"/>
          <p:cNvSpPr/>
          <p:nvPr/>
        </p:nvSpPr>
        <p:spPr>
          <a:xfrm>
            <a:off x="2135124" y="4663440"/>
            <a:ext cx="7918704" cy="10424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D94848"/>
              </a:buClr>
              <a:buSzPts val="2200"/>
              <a:buFont typeface="Arial"/>
              <a:buNone/>
            </a:pPr>
            <a:r>
              <a:rPr b="1" i="0" lang="en-US" sz="2200" u="none" cap="none" strike="noStrike">
                <a:solidFill>
                  <a:srgbClr val="D94848"/>
                </a:solidFill>
                <a:latin typeface="Arial"/>
                <a:ea typeface="Arial"/>
                <a:cs typeface="Arial"/>
                <a:sym typeface="Arial"/>
              </a:rPr>
              <a:t>Alcance clave: no se predicen éxitos futuros; el dataset no contiene una dimensión temporal adecuada.</a:t>
            </a:r>
            <a:endParaRPr b="0" i="0" sz="2200" u="none" cap="none" strike="noStrike">
              <a:solidFill>
                <a:schemeClr val="dk1"/>
              </a:solidFill>
              <a:latin typeface="Arial"/>
              <a:ea typeface="Arial"/>
              <a:cs typeface="Arial"/>
              <a:sym typeface="Arial"/>
            </a:endParaRPr>
          </a:p>
        </p:txBody>
      </p:sp>
      <p:sp>
        <p:nvSpPr>
          <p:cNvPr id="64" name="Google Shape;64;p5"/>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Mapa antes de entrenar modelos</a:t>
            </a:r>
            <a:endParaRPr b="0" i="0" sz="1200" u="none" cap="none" strike="noStrike">
              <a:solidFill>
                <a:schemeClr val="dk1"/>
              </a:solidFill>
              <a:latin typeface="Arial"/>
              <a:ea typeface="Arial"/>
              <a:cs typeface="Arial"/>
              <a:sym typeface="Arial"/>
            </a:endParaRPr>
          </a:p>
        </p:txBody>
      </p:sp>
      <p:sp>
        <p:nvSpPr>
          <p:cNvPr id="65" name="Google Shape;65;p5"/>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6"/>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02 · NEGOCIO</a:t>
            </a:r>
            <a:endParaRPr b="0" i="0" sz="1300" u="none" cap="none" strike="noStrike">
              <a:solidFill>
                <a:schemeClr val="dk1"/>
              </a:solidFill>
              <a:latin typeface="Arial"/>
              <a:ea typeface="Arial"/>
              <a:cs typeface="Arial"/>
              <a:sym typeface="Arial"/>
            </a:endParaRPr>
          </a:p>
        </p:txBody>
      </p:sp>
      <p:sp>
        <p:nvSpPr>
          <p:cNvPr id="72" name="Google Shape;72;p6"/>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Problema de negocio, KPIs y alcance</a:t>
            </a:r>
            <a:endParaRPr b="0" i="0" sz="3400" u="none" cap="none" strike="noStrike">
              <a:solidFill>
                <a:schemeClr val="dk1"/>
              </a:solidFill>
              <a:latin typeface="Arial"/>
              <a:ea typeface="Arial"/>
              <a:cs typeface="Arial"/>
              <a:sym typeface="Arial"/>
            </a:endParaRPr>
          </a:p>
        </p:txBody>
      </p:sp>
      <p:sp>
        <p:nvSpPr>
          <p:cNvPr id="73" name="Google Shape;73;p6"/>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Los KPIs de priorización se pueden definir, pero no validar aún con este dataset.</a:t>
            </a:r>
            <a:endParaRPr b="0" i="0" sz="2000" u="none" cap="none" strike="noStrike">
              <a:solidFill>
                <a:schemeClr val="dk1"/>
              </a:solidFill>
              <a:latin typeface="Arial"/>
              <a:ea typeface="Arial"/>
              <a:cs typeface="Arial"/>
              <a:sym typeface="Arial"/>
            </a:endParaRPr>
          </a:p>
        </p:txBody>
      </p:sp>
      <p:sp>
        <p:nvSpPr>
          <p:cNvPr id="74" name="Google Shape;74;p6"/>
          <p:cNvSpPr/>
          <p:nvPr/>
        </p:nvSpPr>
        <p:spPr>
          <a:xfrm>
            <a:off x="411480" y="1645920"/>
            <a:ext cx="3605784" cy="1664208"/>
          </a:xfrm>
          <a:prstGeom prst="roundRect">
            <a:avLst>
              <a:gd fmla="val 7042"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75" name="Google Shape;75;p6"/>
          <p:cNvSpPr/>
          <p:nvPr/>
        </p:nvSpPr>
        <p:spPr>
          <a:xfrm>
            <a:off x="576072" y="1810512"/>
            <a:ext cx="327660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800"/>
              <a:buFont typeface="Arial"/>
              <a:buNone/>
            </a:pPr>
            <a:r>
              <a:rPr b="1" i="0" lang="en-US" sz="1800" u="none" cap="none" strike="noStrike">
                <a:solidFill>
                  <a:srgbClr val="168A43"/>
                </a:solidFill>
                <a:latin typeface="Arial"/>
                <a:ea typeface="Arial"/>
                <a:cs typeface="Arial"/>
                <a:sym typeface="Arial"/>
              </a:rPr>
              <a:t>Efectividad de priorización</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a:off x="576072" y="2249424"/>
            <a:ext cx="3331464" cy="91440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 de canciones priorizadas que logran buen desempeño</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a:off x="4291584" y="1645920"/>
            <a:ext cx="3605784" cy="1664208"/>
          </a:xfrm>
          <a:prstGeom prst="roundRect">
            <a:avLst>
              <a:gd fmla="val 7042"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78" name="Google Shape;78;p6"/>
          <p:cNvSpPr/>
          <p:nvPr/>
        </p:nvSpPr>
        <p:spPr>
          <a:xfrm>
            <a:off x="4456176" y="1810512"/>
            <a:ext cx="327660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800"/>
              <a:buFont typeface="Arial"/>
              <a:buNone/>
            </a:pPr>
            <a:r>
              <a:rPr b="1" i="0" lang="en-US" sz="1800" u="none" cap="none" strike="noStrike">
                <a:solidFill>
                  <a:srgbClr val="2E63A2"/>
                </a:solidFill>
                <a:latin typeface="Arial"/>
                <a:ea typeface="Arial"/>
                <a:cs typeface="Arial"/>
                <a:sym typeface="Arial"/>
              </a:rPr>
              <a:t>Cobertura de oportunidades</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4456176" y="2249424"/>
            <a:ext cx="3331464" cy="91440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 de canciones con buen desempeño que fueron detectadas</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a:off x="8171688" y="1645920"/>
            <a:ext cx="3605784" cy="1664208"/>
          </a:xfrm>
          <a:prstGeom prst="roundRect">
            <a:avLst>
              <a:gd fmla="val 7042"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81" name="Google Shape;81;p6"/>
          <p:cNvSpPr/>
          <p:nvPr/>
        </p:nvSpPr>
        <p:spPr>
          <a:xfrm>
            <a:off x="8336280" y="1810512"/>
            <a:ext cx="327660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8A6D00"/>
              </a:buClr>
              <a:buSzPts val="1800"/>
              <a:buFont typeface="Arial"/>
              <a:buNone/>
            </a:pPr>
            <a:r>
              <a:rPr b="1" i="0" lang="en-US" sz="1800" u="none" cap="none" strike="noStrike">
                <a:solidFill>
                  <a:srgbClr val="8A6D00"/>
                </a:solidFill>
                <a:latin typeface="Arial"/>
                <a:ea typeface="Arial"/>
                <a:cs typeface="Arial"/>
                <a:sym typeface="Arial"/>
              </a:rPr>
              <a:t>Mejora frente a referencia</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a:off x="8336280" y="2249424"/>
            <a:ext cx="3331464" cy="91440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Comparar contra una selección usada como referencia</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a:off x="411480" y="3712464"/>
            <a:ext cx="3605784" cy="548640"/>
          </a:xfrm>
          <a:prstGeom prst="roundRect">
            <a:avLst>
              <a:gd fmla="val 18182"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84" name="Google Shape;84;p6"/>
          <p:cNvSpPr/>
          <p:nvPr/>
        </p:nvSpPr>
        <p:spPr>
          <a:xfrm>
            <a:off x="502920" y="3712464"/>
            <a:ext cx="3422904" cy="54864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1900"/>
              <a:buFont typeface="Arial"/>
              <a:buNone/>
            </a:pPr>
            <a:r>
              <a:rPr b="1" i="0" lang="en-US" sz="1900" u="none" cap="none" strike="noStrike">
                <a:solidFill>
                  <a:srgbClr val="168A43"/>
                </a:solidFill>
                <a:latin typeface="Arial"/>
                <a:ea typeface="Arial"/>
                <a:cs typeface="Arial"/>
                <a:sym typeface="Arial"/>
              </a:rPr>
              <a:t>Qué sí permite el proyecto</a:t>
            </a:r>
            <a:endParaRPr b="0" i="0" sz="1900" u="none" cap="none" strike="noStrike">
              <a:solidFill>
                <a:schemeClr val="dk1"/>
              </a:solidFill>
              <a:latin typeface="Arial"/>
              <a:ea typeface="Arial"/>
              <a:cs typeface="Arial"/>
              <a:sym typeface="Arial"/>
            </a:endParaRPr>
          </a:p>
        </p:txBody>
      </p:sp>
      <p:sp>
        <p:nvSpPr>
          <p:cNvPr id="85" name="Google Shape;85;p6"/>
          <p:cNvSpPr/>
          <p:nvPr/>
        </p:nvSpPr>
        <p:spPr>
          <a:xfrm>
            <a:off x="411480" y="4389120"/>
            <a:ext cx="3605784" cy="1426464"/>
          </a:xfrm>
          <a:prstGeom prst="roundRect">
            <a:avLst>
              <a:gd fmla="val 10256" name="adj"/>
            </a:avLst>
          </a:prstGeom>
          <a:solidFill>
            <a:srgbClr val="FFFFFF"/>
          </a:solidFill>
          <a:ln cap="flat" cmpd="sng" w="9525">
            <a:solidFill>
              <a:srgbClr val="FFFFFF"/>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86" name="Google Shape;86;p6"/>
          <p:cNvSpPr/>
          <p:nvPr/>
        </p:nvSpPr>
        <p:spPr>
          <a:xfrm>
            <a:off x="411480" y="4389120"/>
            <a:ext cx="3605784" cy="14264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Estimar popularity observada</a:t>
            </a:r>
            <a:endParaRPr b="0" i="0" sz="1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y describir el catálogo</a:t>
            </a:r>
            <a:endParaRPr b="0" i="0" sz="1900" u="none" cap="none" strike="noStrike">
              <a:solidFill>
                <a:schemeClr val="dk1"/>
              </a:solidFill>
              <a:latin typeface="Arial"/>
              <a:ea typeface="Arial"/>
              <a:cs typeface="Arial"/>
              <a:sym typeface="Arial"/>
            </a:endParaRPr>
          </a:p>
        </p:txBody>
      </p:sp>
      <p:sp>
        <p:nvSpPr>
          <p:cNvPr id="87" name="Google Shape;87;p6"/>
          <p:cNvSpPr/>
          <p:nvPr/>
        </p:nvSpPr>
        <p:spPr>
          <a:xfrm>
            <a:off x="4291584" y="3712464"/>
            <a:ext cx="3605784" cy="548640"/>
          </a:xfrm>
          <a:prstGeom prst="roundRect">
            <a:avLst>
              <a:gd fmla="val 18182"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88" name="Google Shape;88;p6"/>
          <p:cNvSpPr/>
          <p:nvPr/>
        </p:nvSpPr>
        <p:spPr>
          <a:xfrm>
            <a:off x="4383024" y="3712464"/>
            <a:ext cx="3422904" cy="54864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D94848"/>
              </a:buClr>
              <a:buSzPts val="1900"/>
              <a:buFont typeface="Arial"/>
              <a:buNone/>
            </a:pPr>
            <a:r>
              <a:rPr b="1" i="0" lang="en-US" sz="1900" u="none" cap="none" strike="noStrike">
                <a:solidFill>
                  <a:srgbClr val="D94848"/>
                </a:solidFill>
                <a:latin typeface="Arial"/>
                <a:ea typeface="Arial"/>
                <a:cs typeface="Arial"/>
                <a:sym typeface="Arial"/>
              </a:rPr>
              <a:t>Qué falta para validar KPIs</a:t>
            </a:r>
            <a:endParaRPr b="0" i="0" sz="1900" u="none" cap="none" strike="noStrike">
              <a:solidFill>
                <a:schemeClr val="dk1"/>
              </a:solidFill>
              <a:latin typeface="Arial"/>
              <a:ea typeface="Arial"/>
              <a:cs typeface="Arial"/>
              <a:sym typeface="Arial"/>
            </a:endParaRPr>
          </a:p>
        </p:txBody>
      </p:sp>
      <p:sp>
        <p:nvSpPr>
          <p:cNvPr id="89" name="Google Shape;89;p6"/>
          <p:cNvSpPr/>
          <p:nvPr/>
        </p:nvSpPr>
        <p:spPr>
          <a:xfrm>
            <a:off x="4291584" y="4389120"/>
            <a:ext cx="3605784" cy="1426464"/>
          </a:xfrm>
          <a:prstGeom prst="roundRect">
            <a:avLst>
              <a:gd fmla="val 10256" name="adj"/>
            </a:avLst>
          </a:prstGeom>
          <a:solidFill>
            <a:srgbClr val="FFFFFF"/>
          </a:solidFill>
          <a:ln cap="flat" cmpd="sng" w="9525">
            <a:solidFill>
              <a:srgbClr val="FFFFFF"/>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90" name="Google Shape;90;p6"/>
          <p:cNvSpPr/>
          <p:nvPr/>
        </p:nvSpPr>
        <p:spPr>
          <a:xfrm>
            <a:off x="4291584" y="4389120"/>
            <a:ext cx="3605784" cy="14264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Decisiones de promoción</a:t>
            </a:r>
            <a:endParaRPr b="0" i="0" sz="1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 resultados posteriores</a:t>
            </a:r>
            <a:endParaRPr b="0" i="0" sz="1900" u="none" cap="none" strike="noStrike">
              <a:solidFill>
                <a:schemeClr val="dk1"/>
              </a:solidFill>
              <a:latin typeface="Arial"/>
              <a:ea typeface="Arial"/>
              <a:cs typeface="Arial"/>
              <a:sym typeface="Arial"/>
            </a:endParaRPr>
          </a:p>
        </p:txBody>
      </p:sp>
      <p:sp>
        <p:nvSpPr>
          <p:cNvPr id="91" name="Google Shape;91;p6"/>
          <p:cNvSpPr/>
          <p:nvPr/>
        </p:nvSpPr>
        <p:spPr>
          <a:xfrm>
            <a:off x="8171688" y="3712464"/>
            <a:ext cx="3605784" cy="548640"/>
          </a:xfrm>
          <a:prstGeom prst="roundRect">
            <a:avLst>
              <a:gd fmla="val 18182" name="adj"/>
            </a:avLst>
          </a:prstGeom>
          <a:solidFill>
            <a:srgbClr val="FFF3E8"/>
          </a:solidFill>
          <a:ln cap="flat" cmpd="sng" w="9525">
            <a:solidFill>
              <a:srgbClr val="FFF3E8"/>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92" name="Google Shape;92;p6"/>
          <p:cNvSpPr/>
          <p:nvPr/>
        </p:nvSpPr>
        <p:spPr>
          <a:xfrm>
            <a:off x="8263128" y="3712464"/>
            <a:ext cx="3422904" cy="54864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E07A1F"/>
              </a:buClr>
              <a:buSzPts val="1900"/>
              <a:buFont typeface="Arial"/>
              <a:buNone/>
            </a:pPr>
            <a:r>
              <a:rPr b="1" i="0" lang="en-US" sz="1900" u="none" cap="none" strike="noStrike">
                <a:solidFill>
                  <a:srgbClr val="E07A1F"/>
                </a:solidFill>
                <a:latin typeface="Arial"/>
                <a:ea typeface="Arial"/>
                <a:cs typeface="Arial"/>
                <a:sym typeface="Arial"/>
              </a:rPr>
              <a:t>Conclusión de alcance</a:t>
            </a:r>
            <a:endParaRPr b="0" i="0" sz="1900" u="none" cap="none" strike="noStrike">
              <a:solidFill>
                <a:schemeClr val="dk1"/>
              </a:solidFill>
              <a:latin typeface="Arial"/>
              <a:ea typeface="Arial"/>
              <a:cs typeface="Arial"/>
              <a:sym typeface="Arial"/>
            </a:endParaRPr>
          </a:p>
        </p:txBody>
      </p:sp>
      <p:sp>
        <p:nvSpPr>
          <p:cNvPr id="93" name="Google Shape;93;p6"/>
          <p:cNvSpPr/>
          <p:nvPr/>
        </p:nvSpPr>
        <p:spPr>
          <a:xfrm>
            <a:off x="8171688" y="4389120"/>
            <a:ext cx="3605784" cy="1426464"/>
          </a:xfrm>
          <a:prstGeom prst="roundRect">
            <a:avLst>
              <a:gd fmla="val 10256" name="adj"/>
            </a:avLst>
          </a:prstGeom>
          <a:solidFill>
            <a:srgbClr val="FFFFFF"/>
          </a:solidFill>
          <a:ln cap="flat" cmpd="sng" w="9525">
            <a:solidFill>
              <a:srgbClr val="FFFFFF"/>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94" name="Google Shape;94;p6"/>
          <p:cNvSpPr/>
          <p:nvPr/>
        </p:nvSpPr>
        <p:spPr>
          <a:xfrm>
            <a:off x="8171688" y="4389120"/>
            <a:ext cx="3605784" cy="14264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Análisis técnico, no herramienta</a:t>
            </a:r>
            <a:endParaRPr b="0" i="0" sz="19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1827"/>
              </a:buClr>
              <a:buSzPts val="1900"/>
              <a:buFont typeface="Arial"/>
              <a:buNone/>
            </a:pPr>
            <a:r>
              <a:rPr b="1" i="0" lang="en-US" sz="1900" u="none" cap="none" strike="noStrike">
                <a:solidFill>
                  <a:srgbClr val="111827"/>
                </a:solidFill>
                <a:latin typeface="Arial"/>
                <a:ea typeface="Arial"/>
                <a:cs typeface="Arial"/>
                <a:sym typeface="Arial"/>
              </a:rPr>
              <a:t>operacional validada</a:t>
            </a:r>
            <a:endParaRPr b="0" i="0" sz="1900" u="none" cap="none" strike="noStrike">
              <a:solidFill>
                <a:schemeClr val="dk1"/>
              </a:solidFill>
              <a:latin typeface="Arial"/>
              <a:ea typeface="Arial"/>
              <a:cs typeface="Arial"/>
              <a:sym typeface="Arial"/>
            </a:endParaRPr>
          </a:p>
        </p:txBody>
      </p:sp>
      <p:sp>
        <p:nvSpPr>
          <p:cNvPr id="95" name="Google Shape;95;p6"/>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Negocio: priorización futura exige más datos</a:t>
            </a:r>
            <a:endParaRPr b="0" i="0" sz="1200" u="none" cap="none" strike="noStrike">
              <a:solidFill>
                <a:schemeClr val="dk1"/>
              </a:solidFill>
              <a:latin typeface="Arial"/>
              <a:ea typeface="Arial"/>
              <a:cs typeface="Arial"/>
              <a:sym typeface="Arial"/>
            </a:endParaRPr>
          </a:p>
        </p:txBody>
      </p:sp>
      <p:sp>
        <p:nvSpPr>
          <p:cNvPr id="96" name="Google Shape;96;p6"/>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03 · DATOS</a:t>
            </a:r>
            <a:endParaRPr b="0" i="0" sz="1300" u="none" cap="none" strike="noStrike">
              <a:solidFill>
                <a:schemeClr val="dk1"/>
              </a:solidFill>
              <a:latin typeface="Arial"/>
              <a:ea typeface="Arial"/>
              <a:cs typeface="Arial"/>
              <a:sym typeface="Arial"/>
            </a:endParaRPr>
          </a:p>
        </p:txBody>
      </p:sp>
      <p:sp>
        <p:nvSpPr>
          <p:cNvPr id="103" name="Google Shape;103;p7"/>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De 114.000 registros a 89.740 canciones consistentes</a:t>
            </a:r>
            <a:endParaRPr b="0" i="0" sz="3400" u="none" cap="none" strike="noStrike">
              <a:solidFill>
                <a:schemeClr val="dk1"/>
              </a:solidFill>
              <a:latin typeface="Arial"/>
              <a:ea typeface="Arial"/>
              <a:cs typeface="Arial"/>
              <a:sym typeface="Arial"/>
            </a:endParaRPr>
          </a:p>
        </p:txBody>
      </p:sp>
      <p:sp>
        <p:nvSpPr>
          <p:cNvPr id="104" name="Google Shape;104;p7"/>
          <p:cNvSpPr/>
          <p:nvPr/>
        </p:nvSpPr>
        <p:spPr>
          <a:xfrm>
            <a:off x="384048" y="1078992"/>
            <a:ext cx="11420856"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200"/>
              <a:buFont typeface="Arial"/>
              <a:buNone/>
            </a:pPr>
            <a:r>
              <a:rPr b="1" i="0" lang="en-US" sz="2200" u="none" cap="none" strike="noStrike">
                <a:solidFill>
                  <a:srgbClr val="111827"/>
                </a:solidFill>
                <a:latin typeface="Arial"/>
                <a:ea typeface="Arial"/>
                <a:cs typeface="Arial"/>
                <a:sym typeface="Arial"/>
              </a:rPr>
              <a:t>Una fila no equivale necesariamente a una canción.</a:t>
            </a:r>
            <a:endParaRPr b="0" i="0" sz="2200" u="none" cap="none" strike="noStrike">
              <a:solidFill>
                <a:schemeClr val="dk1"/>
              </a:solidFill>
              <a:latin typeface="Arial"/>
              <a:ea typeface="Arial"/>
              <a:cs typeface="Arial"/>
              <a:sym typeface="Arial"/>
            </a:endParaRPr>
          </a:p>
        </p:txBody>
      </p:sp>
      <p:sp>
        <p:nvSpPr>
          <p:cNvPr id="105" name="Google Shape;105;p7"/>
          <p:cNvSpPr/>
          <p:nvPr/>
        </p:nvSpPr>
        <p:spPr>
          <a:xfrm>
            <a:off x="384048" y="1463040"/>
            <a:ext cx="11420856"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1800"/>
              <a:buFont typeface="Arial"/>
              <a:buNone/>
            </a:pPr>
            <a:r>
              <a:rPr b="0" i="0" lang="en-US" sz="1800" u="none" cap="none" strike="noStrike">
                <a:solidFill>
                  <a:srgbClr val="4B5563"/>
                </a:solidFill>
                <a:latin typeface="Arial"/>
                <a:ea typeface="Arial"/>
                <a:cs typeface="Arial"/>
                <a:sym typeface="Arial"/>
              </a:rPr>
              <a:t>Una misma pista puede aparecer varias veces por su asociación a distintos géneros.</a:t>
            </a:r>
            <a:endParaRPr b="0" i="0" sz="1800" u="none" cap="none" strike="noStrike">
              <a:solidFill>
                <a:schemeClr val="dk1"/>
              </a:solidFill>
              <a:latin typeface="Arial"/>
              <a:ea typeface="Arial"/>
              <a:cs typeface="Arial"/>
              <a:sym typeface="Arial"/>
            </a:endParaRPr>
          </a:p>
        </p:txBody>
      </p:sp>
      <p:cxnSp>
        <p:nvCxnSpPr>
          <p:cNvPr id="106" name="Google Shape;106;p7"/>
          <p:cNvCxnSpPr/>
          <p:nvPr/>
        </p:nvCxnSpPr>
        <p:spPr>
          <a:xfrm>
            <a:off x="2348179" y="2852928"/>
            <a:ext cx="420624" cy="0"/>
          </a:xfrm>
          <a:prstGeom prst="straightConnector1">
            <a:avLst/>
          </a:prstGeom>
          <a:noFill/>
          <a:ln cap="flat" cmpd="sng" w="13950">
            <a:solidFill>
              <a:srgbClr val="9CA3AF"/>
            </a:solidFill>
            <a:prstDash val="solid"/>
            <a:round/>
            <a:headEnd len="sm" w="sm" type="none"/>
            <a:tailEnd len="med" w="med" type="triangle"/>
          </a:ln>
        </p:spPr>
      </p:cxnSp>
      <p:cxnSp>
        <p:nvCxnSpPr>
          <p:cNvPr id="107" name="Google Shape;107;p7"/>
          <p:cNvCxnSpPr/>
          <p:nvPr/>
        </p:nvCxnSpPr>
        <p:spPr>
          <a:xfrm>
            <a:off x="4705502" y="2852928"/>
            <a:ext cx="420624" cy="0"/>
          </a:xfrm>
          <a:prstGeom prst="straightConnector1">
            <a:avLst/>
          </a:prstGeom>
          <a:noFill/>
          <a:ln cap="flat" cmpd="sng" w="13950">
            <a:solidFill>
              <a:srgbClr val="9CA3AF"/>
            </a:solidFill>
            <a:prstDash val="solid"/>
            <a:round/>
            <a:headEnd len="sm" w="sm" type="none"/>
            <a:tailEnd len="med" w="med" type="triangle"/>
          </a:ln>
        </p:spPr>
      </p:cxnSp>
      <p:cxnSp>
        <p:nvCxnSpPr>
          <p:cNvPr id="108" name="Google Shape;108;p7"/>
          <p:cNvCxnSpPr/>
          <p:nvPr/>
        </p:nvCxnSpPr>
        <p:spPr>
          <a:xfrm>
            <a:off x="7062826" y="2852928"/>
            <a:ext cx="420624" cy="0"/>
          </a:xfrm>
          <a:prstGeom prst="straightConnector1">
            <a:avLst/>
          </a:prstGeom>
          <a:noFill/>
          <a:ln cap="flat" cmpd="sng" w="13950">
            <a:solidFill>
              <a:srgbClr val="9CA3AF"/>
            </a:solidFill>
            <a:prstDash val="solid"/>
            <a:round/>
            <a:headEnd len="sm" w="sm" type="none"/>
            <a:tailEnd len="med" w="med" type="triangle"/>
          </a:ln>
        </p:spPr>
      </p:cxnSp>
      <p:cxnSp>
        <p:nvCxnSpPr>
          <p:cNvPr id="109" name="Google Shape;109;p7"/>
          <p:cNvCxnSpPr/>
          <p:nvPr/>
        </p:nvCxnSpPr>
        <p:spPr>
          <a:xfrm>
            <a:off x="9420149" y="2852928"/>
            <a:ext cx="420624" cy="0"/>
          </a:xfrm>
          <a:prstGeom prst="straightConnector1">
            <a:avLst/>
          </a:prstGeom>
          <a:noFill/>
          <a:ln cap="flat" cmpd="sng" w="13950">
            <a:solidFill>
              <a:srgbClr val="9CA3AF"/>
            </a:solidFill>
            <a:prstDash val="solid"/>
            <a:round/>
            <a:headEnd len="sm" w="sm" type="none"/>
            <a:tailEnd len="med" w="med" type="triangle"/>
          </a:ln>
        </p:spPr>
      </p:cxnSp>
      <p:sp>
        <p:nvSpPr>
          <p:cNvPr id="110" name="Google Shape;110;p7"/>
          <p:cNvSpPr/>
          <p:nvPr/>
        </p:nvSpPr>
        <p:spPr>
          <a:xfrm>
            <a:off x="411480" y="2029968"/>
            <a:ext cx="1936699" cy="1645920"/>
          </a:xfrm>
          <a:prstGeom prst="roundRect">
            <a:avLst>
              <a:gd fmla="val 5161"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11" name="Google Shape;111;p7"/>
          <p:cNvSpPr/>
          <p:nvPr/>
        </p:nvSpPr>
        <p:spPr>
          <a:xfrm>
            <a:off x="457200" y="2194560"/>
            <a:ext cx="1845259" cy="5852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3200"/>
              <a:buFont typeface="Arial"/>
              <a:buNone/>
            </a:pPr>
            <a:r>
              <a:rPr b="1" i="0" lang="en-US" sz="3200" u="none" cap="none" strike="noStrike">
                <a:solidFill>
                  <a:srgbClr val="2E63A2"/>
                </a:solidFill>
                <a:latin typeface="Arial"/>
                <a:ea typeface="Arial"/>
                <a:cs typeface="Arial"/>
                <a:sym typeface="Arial"/>
              </a:rPr>
              <a:t>114.000</a:t>
            </a:r>
            <a:endParaRPr b="0" i="0" sz="3200" u="none" cap="none" strike="noStrike">
              <a:solidFill>
                <a:schemeClr val="dk1"/>
              </a:solidFill>
              <a:latin typeface="Arial"/>
              <a:ea typeface="Arial"/>
              <a:cs typeface="Arial"/>
              <a:sym typeface="Arial"/>
            </a:endParaRPr>
          </a:p>
        </p:txBody>
      </p:sp>
      <p:sp>
        <p:nvSpPr>
          <p:cNvPr id="112" name="Google Shape;112;p7"/>
          <p:cNvSpPr/>
          <p:nvPr/>
        </p:nvSpPr>
        <p:spPr>
          <a:xfrm>
            <a:off x="466344" y="2798064"/>
            <a:ext cx="1826971" cy="73152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registros originales</a:t>
            </a:r>
            <a:endParaRPr b="0" i="0" sz="1500" u="none" cap="none" strike="noStrike">
              <a:solidFill>
                <a:schemeClr val="dk1"/>
              </a:solidFill>
              <a:latin typeface="Arial"/>
              <a:ea typeface="Arial"/>
              <a:cs typeface="Arial"/>
              <a:sym typeface="Arial"/>
            </a:endParaRPr>
          </a:p>
        </p:txBody>
      </p:sp>
      <p:sp>
        <p:nvSpPr>
          <p:cNvPr id="113" name="Google Shape;113;p7"/>
          <p:cNvSpPr/>
          <p:nvPr/>
        </p:nvSpPr>
        <p:spPr>
          <a:xfrm>
            <a:off x="2768803" y="2029968"/>
            <a:ext cx="1936699" cy="1645920"/>
          </a:xfrm>
          <a:prstGeom prst="roundRect">
            <a:avLst>
              <a:gd fmla="val 5161" name="adj"/>
            </a:avLst>
          </a:prstGeom>
          <a:solidFill>
            <a:srgbClr val="FFFFFF"/>
          </a:solidFill>
          <a:ln cap="flat" cmpd="sng" w="9525">
            <a:solidFill>
              <a:srgbClr val="FFFFFF"/>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14" name="Google Shape;114;p7"/>
          <p:cNvSpPr/>
          <p:nvPr/>
        </p:nvSpPr>
        <p:spPr>
          <a:xfrm>
            <a:off x="2814523" y="2194560"/>
            <a:ext cx="1845259" cy="5852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3200"/>
              <a:buFont typeface="Arial"/>
              <a:buNone/>
            </a:pPr>
            <a:r>
              <a:rPr b="1" i="0" lang="en-US" sz="3200" u="none" cap="none" strike="noStrike">
                <a:solidFill>
                  <a:srgbClr val="111827"/>
                </a:solidFill>
                <a:latin typeface="Arial"/>
                <a:ea typeface="Arial"/>
                <a:cs typeface="Arial"/>
                <a:sym typeface="Arial"/>
              </a:rPr>
              <a:t>−451</a:t>
            </a:r>
            <a:endParaRPr b="0" i="0" sz="3200" u="none" cap="none" strike="noStrike">
              <a:solidFill>
                <a:schemeClr val="dk1"/>
              </a:solidFill>
              <a:latin typeface="Arial"/>
              <a:ea typeface="Arial"/>
              <a:cs typeface="Arial"/>
              <a:sym typeface="Arial"/>
            </a:endParaRPr>
          </a:p>
        </p:txBody>
      </p:sp>
      <p:sp>
        <p:nvSpPr>
          <p:cNvPr id="115" name="Google Shape;115;p7"/>
          <p:cNvSpPr/>
          <p:nvPr/>
        </p:nvSpPr>
        <p:spPr>
          <a:xfrm>
            <a:off x="2823667" y="2798064"/>
            <a:ext cx="1826971" cy="73152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450 duplicados + 1 corrupto</a:t>
            </a:r>
            <a:endParaRPr b="0" i="0" sz="1500" u="none" cap="none" strike="noStrike">
              <a:solidFill>
                <a:schemeClr val="dk1"/>
              </a:solidFill>
              <a:latin typeface="Arial"/>
              <a:ea typeface="Arial"/>
              <a:cs typeface="Arial"/>
              <a:sym typeface="Arial"/>
            </a:endParaRPr>
          </a:p>
        </p:txBody>
      </p:sp>
      <p:sp>
        <p:nvSpPr>
          <p:cNvPr id="116" name="Google Shape;116;p7"/>
          <p:cNvSpPr/>
          <p:nvPr/>
        </p:nvSpPr>
        <p:spPr>
          <a:xfrm>
            <a:off x="5126126" y="2029968"/>
            <a:ext cx="1936699" cy="1645920"/>
          </a:xfrm>
          <a:prstGeom prst="roundRect">
            <a:avLst>
              <a:gd fmla="val 5161" name="adj"/>
            </a:avLst>
          </a:prstGeom>
          <a:solidFill>
            <a:srgbClr val="F1F5F3"/>
          </a:solidFill>
          <a:ln cap="flat" cmpd="sng" w="9525">
            <a:solidFill>
              <a:srgbClr val="F1F5F3"/>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17" name="Google Shape;117;p7"/>
          <p:cNvSpPr/>
          <p:nvPr/>
        </p:nvSpPr>
        <p:spPr>
          <a:xfrm>
            <a:off x="5171846" y="2194560"/>
            <a:ext cx="1845259" cy="5852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3200"/>
              <a:buFont typeface="Arial"/>
              <a:buNone/>
            </a:pPr>
            <a:r>
              <a:rPr b="1" i="0" lang="en-US" sz="3200" u="none" cap="none" strike="noStrike">
                <a:solidFill>
                  <a:srgbClr val="111827"/>
                </a:solidFill>
                <a:latin typeface="Arial"/>
                <a:ea typeface="Arial"/>
                <a:cs typeface="Arial"/>
                <a:sym typeface="Arial"/>
              </a:rPr>
              <a:t>113.549</a:t>
            </a:r>
            <a:endParaRPr b="0" i="0" sz="3200" u="none" cap="none" strike="noStrike">
              <a:solidFill>
                <a:schemeClr val="dk1"/>
              </a:solidFill>
              <a:latin typeface="Arial"/>
              <a:ea typeface="Arial"/>
              <a:cs typeface="Arial"/>
              <a:sym typeface="Arial"/>
            </a:endParaRPr>
          </a:p>
        </p:txBody>
      </p:sp>
      <p:sp>
        <p:nvSpPr>
          <p:cNvPr id="118" name="Google Shape;118;p7"/>
          <p:cNvSpPr/>
          <p:nvPr/>
        </p:nvSpPr>
        <p:spPr>
          <a:xfrm>
            <a:off x="5180990" y="2798064"/>
            <a:ext cx="1826971" cy="73152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relaciones canción–género válidas</a:t>
            </a:r>
            <a:endParaRPr b="0" i="0" sz="1500" u="none" cap="none" strike="noStrike">
              <a:solidFill>
                <a:schemeClr val="dk1"/>
              </a:solidFill>
              <a:latin typeface="Arial"/>
              <a:ea typeface="Arial"/>
              <a:cs typeface="Arial"/>
              <a:sym typeface="Arial"/>
            </a:endParaRPr>
          </a:p>
        </p:txBody>
      </p:sp>
      <p:sp>
        <p:nvSpPr>
          <p:cNvPr id="119" name="Google Shape;119;p7"/>
          <p:cNvSpPr/>
          <p:nvPr/>
        </p:nvSpPr>
        <p:spPr>
          <a:xfrm>
            <a:off x="7483450" y="2029968"/>
            <a:ext cx="1936699" cy="1645920"/>
          </a:xfrm>
          <a:prstGeom prst="roundRect">
            <a:avLst>
              <a:gd fmla="val 5161" name="adj"/>
            </a:avLst>
          </a:prstGeom>
          <a:solidFill>
            <a:srgbClr val="FFFFFF"/>
          </a:solidFill>
          <a:ln cap="flat" cmpd="sng" w="9525">
            <a:solidFill>
              <a:srgbClr val="FFFFFF"/>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20" name="Google Shape;120;p7"/>
          <p:cNvSpPr/>
          <p:nvPr/>
        </p:nvSpPr>
        <p:spPr>
          <a:xfrm>
            <a:off x="7529170" y="2194560"/>
            <a:ext cx="1845259" cy="5852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3200"/>
              <a:buFont typeface="Arial"/>
              <a:buNone/>
            </a:pPr>
            <a:r>
              <a:rPr b="1" i="0" lang="en-US" sz="3200" u="none" cap="none" strike="noStrike">
                <a:solidFill>
                  <a:srgbClr val="111827"/>
                </a:solidFill>
                <a:latin typeface="Arial"/>
                <a:ea typeface="Arial"/>
                <a:cs typeface="Arial"/>
                <a:sym typeface="Arial"/>
              </a:rPr>
              <a:t>track_id</a:t>
            </a:r>
            <a:endParaRPr b="0" i="0" sz="3200" u="none" cap="none" strike="noStrike">
              <a:solidFill>
                <a:schemeClr val="dk1"/>
              </a:solidFill>
              <a:latin typeface="Arial"/>
              <a:ea typeface="Arial"/>
              <a:cs typeface="Arial"/>
              <a:sym typeface="Arial"/>
            </a:endParaRPr>
          </a:p>
        </p:txBody>
      </p:sp>
      <p:sp>
        <p:nvSpPr>
          <p:cNvPr id="121" name="Google Shape;121;p7"/>
          <p:cNvSpPr/>
          <p:nvPr/>
        </p:nvSpPr>
        <p:spPr>
          <a:xfrm>
            <a:off x="7538314" y="2798064"/>
            <a:ext cx="1826971" cy="73152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consolidación por canción</a:t>
            </a:r>
            <a:endParaRPr b="0" i="0" sz="1500" u="none" cap="none" strike="noStrike">
              <a:solidFill>
                <a:schemeClr val="dk1"/>
              </a:solidFill>
              <a:latin typeface="Arial"/>
              <a:ea typeface="Arial"/>
              <a:cs typeface="Arial"/>
              <a:sym typeface="Arial"/>
            </a:endParaRPr>
          </a:p>
        </p:txBody>
      </p:sp>
      <p:sp>
        <p:nvSpPr>
          <p:cNvPr id="122" name="Google Shape;122;p7"/>
          <p:cNvSpPr/>
          <p:nvPr/>
        </p:nvSpPr>
        <p:spPr>
          <a:xfrm>
            <a:off x="9840773" y="2029968"/>
            <a:ext cx="1936699" cy="1645920"/>
          </a:xfrm>
          <a:prstGeom prst="roundRect">
            <a:avLst>
              <a:gd fmla="val 5161"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23" name="Google Shape;123;p7"/>
          <p:cNvSpPr/>
          <p:nvPr/>
        </p:nvSpPr>
        <p:spPr>
          <a:xfrm>
            <a:off x="9886493" y="2194560"/>
            <a:ext cx="1845259" cy="585216"/>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3200"/>
              <a:buFont typeface="Arial"/>
              <a:buNone/>
            </a:pPr>
            <a:r>
              <a:rPr b="1" i="0" lang="en-US" sz="3200" u="none" cap="none" strike="noStrike">
                <a:solidFill>
                  <a:srgbClr val="168A43"/>
                </a:solidFill>
                <a:latin typeface="Arial"/>
                <a:ea typeface="Arial"/>
                <a:cs typeface="Arial"/>
                <a:sym typeface="Arial"/>
              </a:rPr>
              <a:t>89.740</a:t>
            </a:r>
            <a:endParaRPr b="0" i="0" sz="3200" u="none" cap="none" strike="noStrike">
              <a:solidFill>
                <a:schemeClr val="dk1"/>
              </a:solidFill>
              <a:latin typeface="Arial"/>
              <a:ea typeface="Arial"/>
              <a:cs typeface="Arial"/>
              <a:sym typeface="Arial"/>
            </a:endParaRPr>
          </a:p>
        </p:txBody>
      </p:sp>
      <p:sp>
        <p:nvSpPr>
          <p:cNvPr id="124" name="Google Shape;124;p7"/>
          <p:cNvSpPr/>
          <p:nvPr/>
        </p:nvSpPr>
        <p:spPr>
          <a:xfrm>
            <a:off x="9895637" y="2798064"/>
            <a:ext cx="1826971" cy="73152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canciones únicas</a:t>
            </a:r>
            <a:endParaRPr b="0" i="0" sz="1500" u="none" cap="none" strike="noStrike">
              <a:solidFill>
                <a:schemeClr val="dk1"/>
              </a:solidFill>
              <a:latin typeface="Arial"/>
              <a:ea typeface="Arial"/>
              <a:cs typeface="Arial"/>
              <a:sym typeface="Arial"/>
            </a:endParaRPr>
          </a:p>
        </p:txBody>
      </p:sp>
      <p:sp>
        <p:nvSpPr>
          <p:cNvPr id="125" name="Google Shape;125;p7"/>
          <p:cNvSpPr/>
          <p:nvPr/>
        </p:nvSpPr>
        <p:spPr>
          <a:xfrm>
            <a:off x="411480" y="4041648"/>
            <a:ext cx="5486400" cy="1700784"/>
          </a:xfrm>
          <a:prstGeom prst="roundRect">
            <a:avLst>
              <a:gd fmla="val 8000"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26" name="Google Shape;126;p7"/>
          <p:cNvSpPr/>
          <p:nvPr/>
        </p:nvSpPr>
        <p:spPr>
          <a:xfrm>
            <a:off x="640080" y="4169664"/>
            <a:ext cx="3657600"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D94848"/>
              </a:buClr>
              <a:buSzPts val="1700"/>
              <a:buFont typeface="Arial"/>
              <a:buNone/>
            </a:pPr>
            <a:r>
              <a:rPr b="1" i="0" lang="en-US" sz="1700" u="none" cap="none" strike="noStrike">
                <a:solidFill>
                  <a:srgbClr val="D94848"/>
                </a:solidFill>
                <a:latin typeface="Arial"/>
                <a:ea typeface="Arial"/>
                <a:cs typeface="Arial"/>
                <a:sym typeface="Arial"/>
              </a:rPr>
              <a:t>Problema detectado</a:t>
            </a:r>
            <a:endParaRPr b="0" i="0" sz="1700" u="none" cap="none" strike="noStrike">
              <a:solidFill>
                <a:schemeClr val="dk1"/>
              </a:solidFill>
              <a:latin typeface="Arial"/>
              <a:ea typeface="Arial"/>
              <a:cs typeface="Arial"/>
              <a:sym typeface="Arial"/>
            </a:endParaRPr>
          </a:p>
        </p:txBody>
      </p:sp>
      <p:sp>
        <p:nvSpPr>
          <p:cNvPr id="127" name="Google Shape;127;p7"/>
          <p:cNvSpPr/>
          <p:nvPr/>
        </p:nvSpPr>
        <p:spPr>
          <a:xfrm>
            <a:off x="868680" y="4572000"/>
            <a:ext cx="4572000" cy="100584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2200"/>
              <a:buFont typeface="Arial"/>
              <a:buNone/>
            </a:pPr>
            <a:r>
              <a:rPr b="1" i="0" lang="en-US" sz="2200" u="none" cap="none" strike="noStrike">
                <a:solidFill>
                  <a:srgbClr val="111827"/>
                </a:solidFill>
                <a:latin typeface="Arial"/>
                <a:ea typeface="Arial"/>
                <a:cs typeface="Arial"/>
                <a:sym typeface="Arial"/>
              </a:rPr>
              <a:t>720 canciones tenían más de un valor de popularity</a:t>
            </a:r>
            <a:endParaRPr b="0" i="0" sz="2200" u="none" cap="none" strike="noStrike">
              <a:solidFill>
                <a:schemeClr val="dk1"/>
              </a:solidFill>
              <a:latin typeface="Arial"/>
              <a:ea typeface="Arial"/>
              <a:cs typeface="Arial"/>
              <a:sym typeface="Arial"/>
            </a:endParaRPr>
          </a:p>
        </p:txBody>
      </p:sp>
      <p:sp>
        <p:nvSpPr>
          <p:cNvPr id="128" name="Google Shape;128;p7"/>
          <p:cNvSpPr/>
          <p:nvPr/>
        </p:nvSpPr>
        <p:spPr>
          <a:xfrm>
            <a:off x="6291072" y="4041648"/>
            <a:ext cx="5486400" cy="1700784"/>
          </a:xfrm>
          <a:prstGeom prst="roundRect">
            <a:avLst>
              <a:gd fmla="val 8000"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29" name="Google Shape;129;p7"/>
          <p:cNvSpPr/>
          <p:nvPr/>
        </p:nvSpPr>
        <p:spPr>
          <a:xfrm>
            <a:off x="6519672" y="4169664"/>
            <a:ext cx="3657600"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Decisión</a:t>
            </a:r>
            <a:endParaRPr b="0" i="0" sz="1700" u="none" cap="none" strike="noStrike">
              <a:solidFill>
                <a:schemeClr val="dk1"/>
              </a:solidFill>
              <a:latin typeface="Arial"/>
              <a:ea typeface="Arial"/>
              <a:cs typeface="Arial"/>
              <a:sym typeface="Arial"/>
            </a:endParaRPr>
          </a:p>
        </p:txBody>
      </p:sp>
      <p:sp>
        <p:nvSpPr>
          <p:cNvPr id="130" name="Google Shape;130;p7"/>
          <p:cNvSpPr/>
          <p:nvPr/>
        </p:nvSpPr>
        <p:spPr>
          <a:xfrm>
            <a:off x="6748272" y="4572000"/>
            <a:ext cx="4572000" cy="100584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2200"/>
              <a:buFont typeface="Arial"/>
              <a:buNone/>
            </a:pPr>
            <a:r>
              <a:rPr b="1" i="0" lang="en-US" sz="2200" u="none" cap="none" strike="noStrike">
                <a:solidFill>
                  <a:srgbClr val="111827"/>
                </a:solidFill>
                <a:latin typeface="Arial"/>
                <a:ea typeface="Arial"/>
                <a:cs typeface="Arial"/>
                <a:sym typeface="Arial"/>
              </a:rPr>
              <a:t>Usar la mediana para consolidar popularity por canción</a:t>
            </a:r>
            <a:endParaRPr b="0" i="0" sz="2200" u="none" cap="none" strike="noStrike">
              <a:solidFill>
                <a:schemeClr val="dk1"/>
              </a:solidFill>
              <a:latin typeface="Arial"/>
              <a:ea typeface="Arial"/>
              <a:cs typeface="Arial"/>
              <a:sym typeface="Arial"/>
            </a:endParaRPr>
          </a:p>
        </p:txBody>
      </p:sp>
      <p:sp>
        <p:nvSpPr>
          <p:cNvPr id="131" name="Google Shape;131;p7"/>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Base final: 1 fila = 1 track_id</a:t>
            </a:r>
            <a:endParaRPr b="0" i="0" sz="1200" u="none" cap="none" strike="noStrike">
              <a:solidFill>
                <a:schemeClr val="dk1"/>
              </a:solidFill>
              <a:latin typeface="Arial"/>
              <a:ea typeface="Arial"/>
              <a:cs typeface="Arial"/>
              <a:sym typeface="Arial"/>
            </a:endParaRPr>
          </a:p>
        </p:txBody>
      </p:sp>
      <p:sp>
        <p:nvSpPr>
          <p:cNvPr id="132" name="Google Shape;132;p7"/>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04 · DISEÑO DE MODELAMIENTO</a:t>
            </a:r>
            <a:endParaRPr b="0" i="0" sz="1300" u="none" cap="none" strike="noStrike">
              <a:solidFill>
                <a:schemeClr val="dk1"/>
              </a:solidFill>
              <a:latin typeface="Arial"/>
              <a:ea typeface="Arial"/>
              <a:cs typeface="Arial"/>
              <a:sym typeface="Arial"/>
            </a:endParaRPr>
          </a:p>
        </p:txBody>
      </p:sp>
      <p:sp>
        <p:nvSpPr>
          <p:cNvPr id="139" name="Google Shape;139;p8"/>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Plan de comparación antes de mirar resultados</a:t>
            </a:r>
            <a:endParaRPr b="0" i="0" sz="3400" u="none" cap="none" strike="noStrike">
              <a:solidFill>
                <a:schemeClr val="dk1"/>
              </a:solidFill>
              <a:latin typeface="Arial"/>
              <a:ea typeface="Arial"/>
              <a:cs typeface="Arial"/>
              <a:sym typeface="Arial"/>
            </a:endParaRPr>
          </a:p>
        </p:txBody>
      </p:sp>
      <p:sp>
        <p:nvSpPr>
          <p:cNvPr id="140" name="Google Shape;140;p8"/>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El objetivo era separar el efecto de la información del efecto del algoritmo.</a:t>
            </a:r>
            <a:endParaRPr b="0" i="0" sz="2000" u="none" cap="none" strike="noStrike">
              <a:solidFill>
                <a:schemeClr val="dk1"/>
              </a:solidFill>
              <a:latin typeface="Arial"/>
              <a:ea typeface="Arial"/>
              <a:cs typeface="Arial"/>
              <a:sym typeface="Arial"/>
            </a:endParaRPr>
          </a:p>
        </p:txBody>
      </p:sp>
      <p:sp>
        <p:nvSpPr>
          <p:cNvPr id="141" name="Google Shape;141;p8"/>
          <p:cNvSpPr/>
          <p:nvPr/>
        </p:nvSpPr>
        <p:spPr>
          <a:xfrm>
            <a:off x="411480" y="1609344"/>
            <a:ext cx="3605784" cy="3639312"/>
          </a:xfrm>
          <a:prstGeom prst="roundRect">
            <a:avLst>
              <a:gd fmla="val 2740" name="adj"/>
            </a:avLst>
          </a:prstGeom>
          <a:solidFill>
            <a:srgbClr val="FFFFFF"/>
          </a:solidFill>
          <a:ln cap="flat" cmpd="sng" w="9525">
            <a:solidFill>
              <a:srgbClr val="D9E0D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42" name="Google Shape;142;p8"/>
          <p:cNvSpPr/>
          <p:nvPr/>
        </p:nvSpPr>
        <p:spPr>
          <a:xfrm>
            <a:off x="640080" y="1737360"/>
            <a:ext cx="3194304"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1 · Regresión Lineal</a:t>
            </a:r>
            <a:endParaRPr b="0" i="0" sz="1700" u="none" cap="none" strike="noStrike">
              <a:solidFill>
                <a:schemeClr val="dk1"/>
              </a:solidFill>
              <a:latin typeface="Arial"/>
              <a:ea typeface="Arial"/>
              <a:cs typeface="Arial"/>
              <a:sym typeface="Arial"/>
            </a:endParaRPr>
          </a:p>
        </p:txBody>
      </p:sp>
      <p:sp>
        <p:nvSpPr>
          <p:cNvPr id="143" name="Google Shape;143;p8"/>
          <p:cNvSpPr/>
          <p:nvPr/>
        </p:nvSpPr>
        <p:spPr>
          <a:xfrm>
            <a:off x="640080" y="2084832"/>
            <a:ext cx="3240024" cy="47548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500"/>
              <a:buFont typeface="Arial"/>
              <a:buNone/>
            </a:pPr>
            <a:r>
              <a:rPr b="1" i="0" lang="en-US" sz="2500" u="none" cap="none" strike="noStrike">
                <a:solidFill>
                  <a:srgbClr val="111827"/>
                </a:solidFill>
                <a:latin typeface="Arial"/>
                <a:ea typeface="Arial"/>
                <a:cs typeface="Arial"/>
                <a:sym typeface="Arial"/>
              </a:rPr>
              <a:t>Cambiar información</a:t>
            </a:r>
            <a:endParaRPr b="0" i="0" sz="2500" u="none" cap="none" strike="noStrike">
              <a:solidFill>
                <a:schemeClr val="dk1"/>
              </a:solidFill>
              <a:latin typeface="Arial"/>
              <a:ea typeface="Arial"/>
              <a:cs typeface="Arial"/>
              <a:sym typeface="Arial"/>
            </a:endParaRPr>
          </a:p>
        </p:txBody>
      </p:sp>
      <p:sp>
        <p:nvSpPr>
          <p:cNvPr id="144" name="Google Shape;144;p8"/>
          <p:cNvSpPr/>
          <p:nvPr/>
        </p:nvSpPr>
        <p:spPr>
          <a:xfrm>
            <a:off x="640080" y="2615184"/>
            <a:ext cx="3240024" cy="841248"/>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4B5563"/>
              </a:buClr>
              <a:buSzPts val="1700"/>
              <a:buFont typeface="Arial"/>
              <a:buNone/>
            </a:pPr>
            <a:r>
              <a:rPr b="0" i="0" lang="en-US" sz="1700" u="none" cap="none" strike="noStrike">
                <a:solidFill>
                  <a:srgbClr val="4B5563"/>
                </a:solidFill>
                <a:latin typeface="Arial"/>
                <a:ea typeface="Arial"/>
                <a:cs typeface="Arial"/>
                <a:sym typeface="Arial"/>
              </a:rPr>
              <a:t>Mismo algoritmo para medir qué variables aportan.</a:t>
            </a:r>
            <a:endParaRPr b="0" i="0" sz="1700" u="none" cap="none" strike="noStrike">
              <a:solidFill>
                <a:schemeClr val="dk1"/>
              </a:solidFill>
              <a:latin typeface="Arial"/>
              <a:ea typeface="Arial"/>
              <a:cs typeface="Arial"/>
              <a:sym typeface="Arial"/>
            </a:endParaRPr>
          </a:p>
        </p:txBody>
      </p:sp>
      <p:sp>
        <p:nvSpPr>
          <p:cNvPr id="145" name="Google Shape;145;p8"/>
          <p:cNvSpPr/>
          <p:nvPr/>
        </p:nvSpPr>
        <p:spPr>
          <a:xfrm>
            <a:off x="797052" y="3602736"/>
            <a:ext cx="2834640" cy="420624"/>
          </a:xfrm>
          <a:prstGeom prst="roundRect">
            <a:avLst>
              <a:gd fmla="val 22857"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46" name="Google Shape;146;p8"/>
          <p:cNvSpPr/>
          <p:nvPr/>
        </p:nvSpPr>
        <p:spPr>
          <a:xfrm>
            <a:off x="842772" y="3602736"/>
            <a:ext cx="2743200" cy="42062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1700"/>
              <a:buFont typeface="Arial"/>
              <a:buNone/>
            </a:pPr>
            <a:r>
              <a:rPr b="1" i="0" lang="en-US" sz="1700" u="none" cap="none" strike="noStrike">
                <a:solidFill>
                  <a:srgbClr val="2E63A2"/>
                </a:solidFill>
                <a:latin typeface="Arial"/>
                <a:ea typeface="Arial"/>
                <a:cs typeface="Arial"/>
                <a:sym typeface="Arial"/>
              </a:rPr>
              <a:t>Audio + estructura</a:t>
            </a:r>
            <a:endParaRPr b="0" i="0" sz="1700" u="none" cap="none" strike="noStrike">
              <a:solidFill>
                <a:schemeClr val="dk1"/>
              </a:solidFill>
              <a:latin typeface="Arial"/>
              <a:ea typeface="Arial"/>
              <a:cs typeface="Arial"/>
              <a:sym typeface="Arial"/>
            </a:endParaRPr>
          </a:p>
        </p:txBody>
      </p:sp>
      <p:sp>
        <p:nvSpPr>
          <p:cNvPr id="147" name="Google Shape;147;p8"/>
          <p:cNvSpPr/>
          <p:nvPr/>
        </p:nvSpPr>
        <p:spPr>
          <a:xfrm>
            <a:off x="797052" y="4133088"/>
            <a:ext cx="2834640" cy="420624"/>
          </a:xfrm>
          <a:prstGeom prst="roundRect">
            <a:avLst>
              <a:gd fmla="val 22857"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48" name="Google Shape;148;p8"/>
          <p:cNvSpPr/>
          <p:nvPr/>
        </p:nvSpPr>
        <p:spPr>
          <a:xfrm>
            <a:off x="842772" y="4133088"/>
            <a:ext cx="2743200" cy="42062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Género</a:t>
            </a:r>
            <a:endParaRPr b="0" i="0" sz="1700" u="none" cap="none" strike="noStrike">
              <a:solidFill>
                <a:schemeClr val="dk1"/>
              </a:solidFill>
              <a:latin typeface="Arial"/>
              <a:ea typeface="Arial"/>
              <a:cs typeface="Arial"/>
              <a:sym typeface="Arial"/>
            </a:endParaRPr>
          </a:p>
        </p:txBody>
      </p:sp>
      <p:sp>
        <p:nvSpPr>
          <p:cNvPr id="149" name="Google Shape;149;p8"/>
          <p:cNvSpPr/>
          <p:nvPr/>
        </p:nvSpPr>
        <p:spPr>
          <a:xfrm>
            <a:off x="797052" y="4663440"/>
            <a:ext cx="2834640" cy="420624"/>
          </a:xfrm>
          <a:prstGeom prst="roundRect">
            <a:avLst>
              <a:gd fmla="val 22857"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50" name="Google Shape;150;p8"/>
          <p:cNvSpPr/>
          <p:nvPr/>
        </p:nvSpPr>
        <p:spPr>
          <a:xfrm>
            <a:off x="842772" y="4663440"/>
            <a:ext cx="2743200" cy="42062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1700"/>
              <a:buFont typeface="Arial"/>
              <a:buNone/>
            </a:pPr>
            <a:r>
              <a:rPr b="1" i="0" lang="en-US" sz="1700" u="none" cap="none" strike="noStrike">
                <a:solidFill>
                  <a:srgbClr val="8A6D00"/>
                </a:solidFill>
                <a:latin typeface="Arial"/>
                <a:ea typeface="Arial"/>
                <a:cs typeface="Arial"/>
                <a:sym typeface="Arial"/>
              </a:rPr>
              <a:t>Combinado</a:t>
            </a:r>
            <a:endParaRPr b="0" i="0" sz="1700" u="none" cap="none" strike="noStrike">
              <a:solidFill>
                <a:schemeClr val="dk1"/>
              </a:solidFill>
              <a:latin typeface="Arial"/>
              <a:ea typeface="Arial"/>
              <a:cs typeface="Arial"/>
              <a:sym typeface="Arial"/>
            </a:endParaRPr>
          </a:p>
        </p:txBody>
      </p:sp>
      <p:sp>
        <p:nvSpPr>
          <p:cNvPr id="151" name="Google Shape;151;p8"/>
          <p:cNvSpPr/>
          <p:nvPr/>
        </p:nvSpPr>
        <p:spPr>
          <a:xfrm>
            <a:off x="4291584" y="1609344"/>
            <a:ext cx="3605784" cy="3639312"/>
          </a:xfrm>
          <a:prstGeom prst="roundRect">
            <a:avLst>
              <a:gd fmla="val 2740" name="adj"/>
            </a:avLst>
          </a:prstGeom>
          <a:solidFill>
            <a:srgbClr val="FFFFFF"/>
          </a:solidFill>
          <a:ln cap="flat" cmpd="sng" w="9525">
            <a:solidFill>
              <a:srgbClr val="D9E0D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52" name="Google Shape;152;p8"/>
          <p:cNvSpPr/>
          <p:nvPr/>
        </p:nvSpPr>
        <p:spPr>
          <a:xfrm>
            <a:off x="4520184" y="1737360"/>
            <a:ext cx="3194304"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2 · Árbol de Decisión</a:t>
            </a:r>
            <a:endParaRPr b="0" i="0" sz="1700" u="none" cap="none" strike="noStrike">
              <a:solidFill>
                <a:schemeClr val="dk1"/>
              </a:solidFill>
              <a:latin typeface="Arial"/>
              <a:ea typeface="Arial"/>
              <a:cs typeface="Arial"/>
              <a:sym typeface="Arial"/>
            </a:endParaRPr>
          </a:p>
        </p:txBody>
      </p:sp>
      <p:sp>
        <p:nvSpPr>
          <p:cNvPr id="153" name="Google Shape;153;p8"/>
          <p:cNvSpPr/>
          <p:nvPr/>
        </p:nvSpPr>
        <p:spPr>
          <a:xfrm>
            <a:off x="4520184" y="2084832"/>
            <a:ext cx="3240024" cy="47548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500"/>
              <a:buFont typeface="Arial"/>
              <a:buNone/>
            </a:pPr>
            <a:r>
              <a:rPr b="1" i="0" lang="en-US" sz="2500" u="none" cap="none" strike="noStrike">
                <a:solidFill>
                  <a:srgbClr val="111827"/>
                </a:solidFill>
                <a:latin typeface="Arial"/>
                <a:ea typeface="Arial"/>
                <a:cs typeface="Arial"/>
                <a:sym typeface="Arial"/>
              </a:rPr>
              <a:t>Cambiar algoritmo</a:t>
            </a:r>
            <a:endParaRPr b="0" i="0" sz="2500" u="none" cap="none" strike="noStrike">
              <a:solidFill>
                <a:schemeClr val="dk1"/>
              </a:solidFill>
              <a:latin typeface="Arial"/>
              <a:ea typeface="Arial"/>
              <a:cs typeface="Arial"/>
              <a:sym typeface="Arial"/>
            </a:endParaRPr>
          </a:p>
        </p:txBody>
      </p:sp>
      <p:sp>
        <p:nvSpPr>
          <p:cNvPr id="154" name="Google Shape;154;p8"/>
          <p:cNvSpPr/>
          <p:nvPr/>
        </p:nvSpPr>
        <p:spPr>
          <a:xfrm>
            <a:off x="4520184" y="2615184"/>
            <a:ext cx="3240024" cy="841248"/>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4B5563"/>
              </a:buClr>
              <a:buSzPts val="1700"/>
              <a:buFont typeface="Arial"/>
              <a:buNone/>
            </a:pPr>
            <a:r>
              <a:rPr b="0" i="0" lang="en-US" sz="1700" u="none" cap="none" strike="noStrike">
                <a:solidFill>
                  <a:srgbClr val="4B5563"/>
                </a:solidFill>
                <a:latin typeface="Arial"/>
                <a:ea typeface="Arial"/>
                <a:cs typeface="Arial"/>
                <a:sym typeface="Arial"/>
              </a:rPr>
              <a:t>Misma información combinada para aislar el efecto del modelo.</a:t>
            </a:r>
            <a:endParaRPr b="0" i="0" sz="1700" u="none" cap="none" strike="noStrike">
              <a:solidFill>
                <a:schemeClr val="dk1"/>
              </a:solidFill>
              <a:latin typeface="Arial"/>
              <a:ea typeface="Arial"/>
              <a:cs typeface="Arial"/>
              <a:sym typeface="Arial"/>
            </a:endParaRPr>
          </a:p>
        </p:txBody>
      </p:sp>
      <p:sp>
        <p:nvSpPr>
          <p:cNvPr id="155" name="Google Shape;155;p8"/>
          <p:cNvSpPr/>
          <p:nvPr/>
        </p:nvSpPr>
        <p:spPr>
          <a:xfrm>
            <a:off x="4547616" y="3621024"/>
            <a:ext cx="1481328" cy="621792"/>
          </a:xfrm>
          <a:prstGeom prst="roundRect">
            <a:avLst>
              <a:gd fmla="val 17778" name="adj"/>
            </a:avLst>
          </a:prstGeom>
          <a:solidFill>
            <a:srgbClr val="F1F5F3"/>
          </a:solidFill>
          <a:ln cap="flat" cmpd="sng" w="9525">
            <a:solidFill>
              <a:srgbClr val="F1F5F3"/>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56" name="Google Shape;156;p8"/>
          <p:cNvSpPr/>
          <p:nvPr/>
        </p:nvSpPr>
        <p:spPr>
          <a:xfrm>
            <a:off x="4584192" y="3621024"/>
            <a:ext cx="1408176" cy="621792"/>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Regresión Lineal</a:t>
            </a:r>
            <a:endParaRPr b="0" i="0" sz="1600" u="none" cap="none" strike="noStrike">
              <a:solidFill>
                <a:schemeClr val="dk1"/>
              </a:solidFill>
              <a:latin typeface="Arial"/>
              <a:ea typeface="Arial"/>
              <a:cs typeface="Arial"/>
              <a:sym typeface="Arial"/>
            </a:endParaRPr>
          </a:p>
        </p:txBody>
      </p:sp>
      <p:cxnSp>
        <p:nvCxnSpPr>
          <p:cNvPr id="157" name="Google Shape;157;p8"/>
          <p:cNvCxnSpPr/>
          <p:nvPr/>
        </p:nvCxnSpPr>
        <p:spPr>
          <a:xfrm>
            <a:off x="6120384" y="3931920"/>
            <a:ext cx="365760" cy="0"/>
          </a:xfrm>
          <a:prstGeom prst="straightConnector1">
            <a:avLst/>
          </a:prstGeom>
          <a:noFill/>
          <a:ln cap="flat" cmpd="sng" w="12700">
            <a:solidFill>
              <a:srgbClr val="6B7280"/>
            </a:solidFill>
            <a:prstDash val="solid"/>
            <a:round/>
            <a:headEnd len="sm" w="sm" type="none"/>
            <a:tailEnd len="med" w="med" type="triangle"/>
          </a:ln>
        </p:spPr>
      </p:cxnSp>
      <p:sp>
        <p:nvSpPr>
          <p:cNvPr id="158" name="Google Shape;158;p8"/>
          <p:cNvSpPr/>
          <p:nvPr/>
        </p:nvSpPr>
        <p:spPr>
          <a:xfrm>
            <a:off x="6577584" y="3621024"/>
            <a:ext cx="1069848" cy="621792"/>
          </a:xfrm>
          <a:prstGeom prst="roundRect">
            <a:avLst>
              <a:gd fmla="val 17778"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59" name="Google Shape;159;p8"/>
          <p:cNvSpPr/>
          <p:nvPr/>
        </p:nvSpPr>
        <p:spPr>
          <a:xfrm>
            <a:off x="6605016" y="3621024"/>
            <a:ext cx="1014984" cy="621792"/>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2000"/>
              <a:buFont typeface="Arial"/>
              <a:buNone/>
            </a:pPr>
            <a:r>
              <a:rPr b="1" i="0" lang="en-US" sz="2000" u="none" cap="none" strike="noStrike">
                <a:solidFill>
                  <a:srgbClr val="168A43"/>
                </a:solidFill>
                <a:latin typeface="Arial"/>
                <a:ea typeface="Arial"/>
                <a:cs typeface="Arial"/>
                <a:sym typeface="Arial"/>
              </a:rPr>
              <a:t>Árbol</a:t>
            </a:r>
            <a:endParaRPr b="0" i="0" sz="2000" u="none" cap="none" strike="noStrike">
              <a:solidFill>
                <a:schemeClr val="dk1"/>
              </a:solidFill>
              <a:latin typeface="Arial"/>
              <a:ea typeface="Arial"/>
              <a:cs typeface="Arial"/>
              <a:sym typeface="Arial"/>
            </a:endParaRPr>
          </a:p>
        </p:txBody>
      </p:sp>
      <p:sp>
        <p:nvSpPr>
          <p:cNvPr id="160" name="Google Shape;160;p8"/>
          <p:cNvSpPr/>
          <p:nvPr/>
        </p:nvSpPr>
        <p:spPr>
          <a:xfrm>
            <a:off x="4547616" y="4462272"/>
            <a:ext cx="3093720" cy="658368"/>
          </a:xfrm>
          <a:prstGeom prst="roundRect">
            <a:avLst>
              <a:gd fmla="val 17778"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61" name="Google Shape;161;p8"/>
          <p:cNvSpPr/>
          <p:nvPr/>
        </p:nvSpPr>
        <p:spPr>
          <a:xfrm>
            <a:off x="4602480" y="4462272"/>
            <a:ext cx="2983992" cy="65836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1500"/>
              <a:buFont typeface="Arial"/>
              <a:buNone/>
            </a:pPr>
            <a:r>
              <a:rPr b="1" i="0" lang="en-US" sz="1500" u="none" cap="none" strike="noStrike">
                <a:solidFill>
                  <a:srgbClr val="2E63A2"/>
                </a:solidFill>
                <a:latin typeface="Arial"/>
                <a:ea typeface="Arial"/>
                <a:cs typeface="Arial"/>
                <a:sym typeface="Arial"/>
              </a:rPr>
              <a:t>Validación cruzada para configurar hiperparámetros</a:t>
            </a:r>
            <a:endParaRPr b="0" i="0" sz="1500" u="none" cap="none" strike="noStrike">
              <a:solidFill>
                <a:schemeClr val="dk1"/>
              </a:solidFill>
              <a:latin typeface="Arial"/>
              <a:ea typeface="Arial"/>
              <a:cs typeface="Arial"/>
              <a:sym typeface="Arial"/>
            </a:endParaRPr>
          </a:p>
        </p:txBody>
      </p:sp>
      <p:sp>
        <p:nvSpPr>
          <p:cNvPr id="162" name="Google Shape;162;p8"/>
          <p:cNvSpPr/>
          <p:nvPr/>
        </p:nvSpPr>
        <p:spPr>
          <a:xfrm>
            <a:off x="8171688" y="1609344"/>
            <a:ext cx="3605784" cy="3639312"/>
          </a:xfrm>
          <a:prstGeom prst="roundRect">
            <a:avLst>
              <a:gd fmla="val 2740" name="adj"/>
            </a:avLst>
          </a:prstGeom>
          <a:solidFill>
            <a:srgbClr val="FFFFFF"/>
          </a:solidFill>
          <a:ln cap="flat" cmpd="sng" w="9525">
            <a:solidFill>
              <a:srgbClr val="D9E0D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63" name="Google Shape;163;p8"/>
          <p:cNvSpPr/>
          <p:nvPr/>
        </p:nvSpPr>
        <p:spPr>
          <a:xfrm>
            <a:off x="8400288" y="1737360"/>
            <a:ext cx="3194304"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3 · K-Means</a:t>
            </a:r>
            <a:endParaRPr b="0" i="0" sz="1700" u="none" cap="none" strike="noStrike">
              <a:solidFill>
                <a:schemeClr val="dk1"/>
              </a:solidFill>
              <a:latin typeface="Arial"/>
              <a:ea typeface="Arial"/>
              <a:cs typeface="Arial"/>
              <a:sym typeface="Arial"/>
            </a:endParaRPr>
          </a:p>
        </p:txBody>
      </p:sp>
      <p:sp>
        <p:nvSpPr>
          <p:cNvPr id="164" name="Google Shape;164;p8"/>
          <p:cNvSpPr/>
          <p:nvPr/>
        </p:nvSpPr>
        <p:spPr>
          <a:xfrm>
            <a:off x="8400288" y="2084832"/>
            <a:ext cx="3240024" cy="47548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500"/>
              <a:buFont typeface="Arial"/>
              <a:buNone/>
            </a:pPr>
            <a:r>
              <a:rPr b="1" i="0" lang="en-US" sz="2500" u="none" cap="none" strike="noStrike">
                <a:solidFill>
                  <a:srgbClr val="111827"/>
                </a:solidFill>
                <a:latin typeface="Arial"/>
                <a:ea typeface="Arial"/>
                <a:cs typeface="Arial"/>
                <a:sym typeface="Arial"/>
              </a:rPr>
              <a:t>Descubrir perfiles</a:t>
            </a:r>
            <a:endParaRPr b="0" i="0" sz="2500" u="none" cap="none" strike="noStrike">
              <a:solidFill>
                <a:schemeClr val="dk1"/>
              </a:solidFill>
              <a:latin typeface="Arial"/>
              <a:ea typeface="Arial"/>
              <a:cs typeface="Arial"/>
              <a:sym typeface="Arial"/>
            </a:endParaRPr>
          </a:p>
        </p:txBody>
      </p:sp>
      <p:sp>
        <p:nvSpPr>
          <p:cNvPr id="165" name="Google Shape;165;p8"/>
          <p:cNvSpPr/>
          <p:nvPr/>
        </p:nvSpPr>
        <p:spPr>
          <a:xfrm>
            <a:off x="8400288" y="2615184"/>
            <a:ext cx="3240024" cy="841248"/>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4B5563"/>
              </a:buClr>
              <a:buSzPts val="1700"/>
              <a:buFont typeface="Arial"/>
              <a:buNone/>
            </a:pPr>
            <a:r>
              <a:rPr b="0" i="0" lang="en-US" sz="1700" u="none" cap="none" strike="noStrike">
                <a:solidFill>
                  <a:srgbClr val="4B5563"/>
                </a:solidFill>
                <a:latin typeface="Arial"/>
                <a:ea typeface="Arial"/>
                <a:cs typeface="Arial"/>
                <a:sym typeface="Arial"/>
              </a:rPr>
              <a:t>Solo audio estandarizado; sin popularity ni género al formar grupos.</a:t>
            </a:r>
            <a:endParaRPr b="0" i="0" sz="1700" u="none" cap="none" strike="noStrike">
              <a:solidFill>
                <a:schemeClr val="dk1"/>
              </a:solidFill>
              <a:latin typeface="Arial"/>
              <a:ea typeface="Arial"/>
              <a:cs typeface="Arial"/>
              <a:sym typeface="Arial"/>
            </a:endParaRPr>
          </a:p>
        </p:txBody>
      </p:sp>
      <p:sp>
        <p:nvSpPr>
          <p:cNvPr id="166" name="Google Shape;166;p8"/>
          <p:cNvSpPr/>
          <p:nvPr/>
        </p:nvSpPr>
        <p:spPr>
          <a:xfrm>
            <a:off x="8310372" y="3621024"/>
            <a:ext cx="1024128" cy="566928"/>
          </a:xfrm>
          <a:prstGeom prst="roundRect">
            <a:avLst>
              <a:gd fmla="val 17778"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67" name="Google Shape;167;p8"/>
          <p:cNvSpPr/>
          <p:nvPr/>
        </p:nvSpPr>
        <p:spPr>
          <a:xfrm>
            <a:off x="8337804" y="3621024"/>
            <a:ext cx="969264"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1900"/>
              <a:buFont typeface="Arial"/>
              <a:buNone/>
            </a:pPr>
            <a:r>
              <a:rPr b="1" i="0" lang="en-US" sz="1900" u="none" cap="none" strike="noStrike">
                <a:solidFill>
                  <a:srgbClr val="2E63A2"/>
                </a:solidFill>
                <a:latin typeface="Arial"/>
                <a:ea typeface="Arial"/>
                <a:cs typeface="Arial"/>
                <a:sym typeface="Arial"/>
              </a:rPr>
              <a:t>Audio</a:t>
            </a:r>
            <a:endParaRPr b="0" i="0" sz="1900" u="none" cap="none" strike="noStrike">
              <a:solidFill>
                <a:schemeClr val="dk1"/>
              </a:solidFill>
              <a:latin typeface="Arial"/>
              <a:ea typeface="Arial"/>
              <a:cs typeface="Arial"/>
              <a:sym typeface="Arial"/>
            </a:endParaRPr>
          </a:p>
        </p:txBody>
      </p:sp>
      <p:cxnSp>
        <p:nvCxnSpPr>
          <p:cNvPr id="168" name="Google Shape;168;p8"/>
          <p:cNvCxnSpPr/>
          <p:nvPr/>
        </p:nvCxnSpPr>
        <p:spPr>
          <a:xfrm>
            <a:off x="9398508" y="3904488"/>
            <a:ext cx="256032" cy="0"/>
          </a:xfrm>
          <a:prstGeom prst="straightConnector1">
            <a:avLst/>
          </a:prstGeom>
          <a:noFill/>
          <a:ln cap="flat" cmpd="sng" w="12700">
            <a:solidFill>
              <a:srgbClr val="6B7280"/>
            </a:solidFill>
            <a:prstDash val="solid"/>
            <a:round/>
            <a:headEnd len="sm" w="sm" type="none"/>
            <a:tailEnd len="med" w="med" type="triangle"/>
          </a:ln>
        </p:spPr>
      </p:cxnSp>
      <p:sp>
        <p:nvSpPr>
          <p:cNvPr id="169" name="Google Shape;169;p8"/>
          <p:cNvSpPr/>
          <p:nvPr/>
        </p:nvSpPr>
        <p:spPr>
          <a:xfrm>
            <a:off x="9718548" y="3621024"/>
            <a:ext cx="731520" cy="566928"/>
          </a:xfrm>
          <a:prstGeom prst="roundRect">
            <a:avLst>
              <a:gd fmla="val 17778"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70" name="Google Shape;170;p8"/>
          <p:cNvSpPr/>
          <p:nvPr/>
        </p:nvSpPr>
        <p:spPr>
          <a:xfrm>
            <a:off x="9745980" y="3621024"/>
            <a:ext cx="676656"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1900"/>
              <a:buFont typeface="Arial"/>
              <a:buNone/>
            </a:pPr>
            <a:r>
              <a:rPr b="1" i="0" lang="en-US" sz="1900" u="none" cap="none" strike="noStrike">
                <a:solidFill>
                  <a:srgbClr val="8A6D00"/>
                </a:solidFill>
                <a:latin typeface="Arial"/>
                <a:ea typeface="Arial"/>
                <a:cs typeface="Arial"/>
                <a:sym typeface="Arial"/>
              </a:rPr>
              <a:t>K</a:t>
            </a:r>
            <a:endParaRPr b="0" i="0" sz="1900" u="none" cap="none" strike="noStrike">
              <a:solidFill>
                <a:schemeClr val="dk1"/>
              </a:solidFill>
              <a:latin typeface="Arial"/>
              <a:ea typeface="Arial"/>
              <a:cs typeface="Arial"/>
              <a:sym typeface="Arial"/>
            </a:endParaRPr>
          </a:p>
        </p:txBody>
      </p:sp>
      <p:cxnSp>
        <p:nvCxnSpPr>
          <p:cNvPr id="171" name="Google Shape;171;p8"/>
          <p:cNvCxnSpPr/>
          <p:nvPr/>
        </p:nvCxnSpPr>
        <p:spPr>
          <a:xfrm>
            <a:off x="10514076" y="3904488"/>
            <a:ext cx="256032" cy="0"/>
          </a:xfrm>
          <a:prstGeom prst="straightConnector1">
            <a:avLst/>
          </a:prstGeom>
          <a:noFill/>
          <a:ln cap="flat" cmpd="sng" w="12700">
            <a:solidFill>
              <a:srgbClr val="6B7280"/>
            </a:solidFill>
            <a:prstDash val="solid"/>
            <a:round/>
            <a:headEnd len="sm" w="sm" type="none"/>
            <a:tailEnd len="med" w="med" type="triangle"/>
          </a:ln>
        </p:spPr>
      </p:cxnSp>
      <p:sp>
        <p:nvSpPr>
          <p:cNvPr id="172" name="Google Shape;172;p8"/>
          <p:cNvSpPr/>
          <p:nvPr/>
        </p:nvSpPr>
        <p:spPr>
          <a:xfrm>
            <a:off x="10834116" y="3621024"/>
            <a:ext cx="804672" cy="566928"/>
          </a:xfrm>
          <a:prstGeom prst="roundRect">
            <a:avLst>
              <a:gd fmla="val 17778"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73" name="Google Shape;173;p8"/>
          <p:cNvSpPr/>
          <p:nvPr/>
        </p:nvSpPr>
        <p:spPr>
          <a:xfrm>
            <a:off x="10861548" y="3621024"/>
            <a:ext cx="749808"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PCA</a:t>
            </a:r>
            <a:endParaRPr b="0" i="0" sz="1700" u="none" cap="none" strike="noStrike">
              <a:solidFill>
                <a:schemeClr val="dk1"/>
              </a:solidFill>
              <a:latin typeface="Arial"/>
              <a:ea typeface="Arial"/>
              <a:cs typeface="Arial"/>
              <a:sym typeface="Arial"/>
            </a:endParaRPr>
          </a:p>
        </p:txBody>
      </p:sp>
      <p:sp>
        <p:nvSpPr>
          <p:cNvPr id="174" name="Google Shape;174;p8"/>
          <p:cNvSpPr/>
          <p:nvPr/>
        </p:nvSpPr>
        <p:spPr>
          <a:xfrm>
            <a:off x="914400" y="5468112"/>
            <a:ext cx="10360152" cy="566928"/>
          </a:xfrm>
          <a:prstGeom prst="roundRect">
            <a:avLst>
              <a:gd fmla="val 14545" name="adj"/>
            </a:avLst>
          </a:prstGeom>
          <a:solidFill>
            <a:srgbClr val="FFF3E8"/>
          </a:solidFill>
          <a:ln cap="flat" cmpd="sng" w="9525">
            <a:solidFill>
              <a:srgbClr val="FFF3E8"/>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75" name="Google Shape;175;p8"/>
          <p:cNvSpPr/>
          <p:nvPr/>
        </p:nvSpPr>
        <p:spPr>
          <a:xfrm>
            <a:off x="914400" y="5468112"/>
            <a:ext cx="10360152"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E07A1F"/>
              </a:buClr>
              <a:buSzPts val="2000"/>
              <a:buFont typeface="Arial"/>
              <a:buNone/>
            </a:pPr>
            <a:r>
              <a:rPr b="1" i="0" lang="en-US" sz="2000" u="none" cap="none" strike="noStrike">
                <a:solidFill>
                  <a:srgbClr val="E07A1F"/>
                </a:solidFill>
                <a:latin typeface="Arial"/>
                <a:ea typeface="Arial"/>
                <a:cs typeface="Arial"/>
                <a:sym typeface="Arial"/>
              </a:rPr>
              <a:t>Punto de partida del EDA: audio individual débil; género sí muestra diferencias.</a:t>
            </a:r>
            <a:endParaRPr b="0" i="0" sz="2000" u="none" cap="none" strike="noStrike">
              <a:solidFill>
                <a:schemeClr val="dk1"/>
              </a:solidFill>
              <a:latin typeface="Arial"/>
              <a:ea typeface="Arial"/>
              <a:cs typeface="Arial"/>
              <a:sym typeface="Arial"/>
            </a:endParaRPr>
          </a:p>
        </p:txBody>
      </p:sp>
      <p:sp>
        <p:nvSpPr>
          <p:cNvPr id="176" name="Google Shape;176;p8"/>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Diseño: controlar variables antes de comparar modelos</a:t>
            </a:r>
            <a:endParaRPr b="0" i="0" sz="1200" u="none" cap="none" strike="noStrike">
              <a:solidFill>
                <a:schemeClr val="dk1"/>
              </a:solidFill>
              <a:latin typeface="Arial"/>
              <a:ea typeface="Arial"/>
              <a:cs typeface="Arial"/>
              <a:sym typeface="Arial"/>
            </a:endParaRPr>
          </a:p>
        </p:txBody>
      </p:sp>
      <p:sp>
        <p:nvSpPr>
          <p:cNvPr id="177" name="Google Shape;177;p8"/>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05 · SUPERVISADO · REGRESIÓN LINEAL</a:t>
            </a:r>
            <a:endParaRPr b="0" i="0" sz="1300" u="none" cap="none" strike="noStrike">
              <a:solidFill>
                <a:schemeClr val="dk1"/>
              </a:solidFill>
              <a:latin typeface="Arial"/>
              <a:ea typeface="Arial"/>
              <a:cs typeface="Arial"/>
              <a:sym typeface="Arial"/>
            </a:endParaRPr>
          </a:p>
        </p:txBody>
      </p:sp>
      <p:sp>
        <p:nvSpPr>
          <p:cNvPr id="184" name="Google Shape;184;p9"/>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¿Qué información ayuda a estimar popularity?</a:t>
            </a:r>
            <a:endParaRPr b="0" i="0" sz="3400" u="none" cap="none" strike="noStrike">
              <a:solidFill>
                <a:schemeClr val="dk1"/>
              </a:solidFill>
              <a:latin typeface="Arial"/>
              <a:ea typeface="Arial"/>
              <a:cs typeface="Arial"/>
              <a:sym typeface="Arial"/>
            </a:endParaRPr>
          </a:p>
        </p:txBody>
      </p:sp>
      <p:sp>
        <p:nvSpPr>
          <p:cNvPr id="185" name="Google Shape;185;p9"/>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Primer modelo supervisado: simple, interpretable y útil para comparar fuentes de información.</a:t>
            </a:r>
            <a:endParaRPr b="0" i="0" sz="2000" u="none" cap="none" strike="noStrike">
              <a:solidFill>
                <a:schemeClr val="dk1"/>
              </a:solidFill>
              <a:latin typeface="Arial"/>
              <a:ea typeface="Arial"/>
              <a:cs typeface="Arial"/>
              <a:sym typeface="Arial"/>
            </a:endParaRPr>
          </a:p>
        </p:txBody>
      </p:sp>
      <p:sp>
        <p:nvSpPr>
          <p:cNvPr id="186" name="Google Shape;186;p9"/>
          <p:cNvSpPr/>
          <p:nvPr/>
        </p:nvSpPr>
        <p:spPr>
          <a:xfrm>
            <a:off x="411480" y="1847088"/>
            <a:ext cx="2416302" cy="1517904"/>
          </a:xfrm>
          <a:prstGeom prst="roundRect">
            <a:avLst>
              <a:gd fmla="val 5926" name="adj"/>
            </a:avLst>
          </a:prstGeom>
          <a:solidFill>
            <a:srgbClr val="F1F5F3"/>
          </a:solidFill>
          <a:ln cap="flat" cmpd="sng" w="9525">
            <a:solidFill>
              <a:srgbClr val="F1F5F3"/>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87" name="Google Shape;187;p9"/>
          <p:cNvSpPr/>
          <p:nvPr/>
        </p:nvSpPr>
        <p:spPr>
          <a:xfrm>
            <a:off x="466344" y="1920240"/>
            <a:ext cx="2306574"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3400"/>
              <a:buFont typeface="Arial"/>
              <a:buNone/>
            </a:pPr>
            <a:r>
              <a:rPr b="1" i="0" lang="en-US" sz="3400" u="none" cap="none" strike="noStrike">
                <a:solidFill>
                  <a:srgbClr val="111827"/>
                </a:solidFill>
                <a:latin typeface="Arial"/>
                <a:ea typeface="Arial"/>
                <a:cs typeface="Arial"/>
                <a:sym typeface="Arial"/>
              </a:rPr>
              <a:t>17,12</a:t>
            </a:r>
            <a:endParaRPr b="0" i="0" sz="3400" u="none" cap="none" strike="noStrike">
              <a:solidFill>
                <a:schemeClr val="dk1"/>
              </a:solidFill>
              <a:latin typeface="Arial"/>
              <a:ea typeface="Arial"/>
              <a:cs typeface="Arial"/>
              <a:sym typeface="Arial"/>
            </a:endParaRPr>
          </a:p>
        </p:txBody>
      </p:sp>
      <p:sp>
        <p:nvSpPr>
          <p:cNvPr id="188" name="Google Shape;188;p9"/>
          <p:cNvSpPr/>
          <p:nvPr/>
        </p:nvSpPr>
        <p:spPr>
          <a:xfrm>
            <a:off x="466344" y="2487168"/>
            <a:ext cx="2306574" cy="5120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Baseline</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mediana</a:t>
            </a:r>
            <a:endParaRPr b="0" i="0" sz="1500" u="none" cap="none" strike="noStrike">
              <a:solidFill>
                <a:schemeClr val="dk1"/>
              </a:solidFill>
              <a:latin typeface="Arial"/>
              <a:ea typeface="Arial"/>
              <a:cs typeface="Arial"/>
              <a:sym typeface="Arial"/>
            </a:endParaRPr>
          </a:p>
        </p:txBody>
      </p:sp>
      <p:cxnSp>
        <p:nvCxnSpPr>
          <p:cNvPr id="189" name="Google Shape;189;p9"/>
          <p:cNvCxnSpPr/>
          <p:nvPr/>
        </p:nvCxnSpPr>
        <p:spPr>
          <a:xfrm>
            <a:off x="2910078" y="2606040"/>
            <a:ext cx="402336" cy="0"/>
          </a:xfrm>
          <a:prstGeom prst="straightConnector1">
            <a:avLst/>
          </a:prstGeom>
          <a:noFill/>
          <a:ln cap="flat" cmpd="sng" w="12700">
            <a:solidFill>
              <a:srgbClr val="6B7280"/>
            </a:solidFill>
            <a:prstDash val="solid"/>
            <a:round/>
            <a:headEnd len="sm" w="sm" type="none"/>
            <a:tailEnd len="med" w="med" type="triangle"/>
          </a:ln>
        </p:spPr>
      </p:cxnSp>
      <p:sp>
        <p:nvSpPr>
          <p:cNvPr id="190" name="Google Shape;190;p9"/>
          <p:cNvSpPr/>
          <p:nvPr/>
        </p:nvSpPr>
        <p:spPr>
          <a:xfrm>
            <a:off x="3394710" y="1847088"/>
            <a:ext cx="2416302" cy="1517904"/>
          </a:xfrm>
          <a:prstGeom prst="roundRect">
            <a:avLst>
              <a:gd fmla="val 5926"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91" name="Google Shape;191;p9"/>
          <p:cNvSpPr/>
          <p:nvPr/>
        </p:nvSpPr>
        <p:spPr>
          <a:xfrm>
            <a:off x="3449574" y="1920240"/>
            <a:ext cx="2306574"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2E63A2"/>
              </a:buClr>
              <a:buSzPts val="3400"/>
              <a:buFont typeface="Arial"/>
              <a:buNone/>
            </a:pPr>
            <a:r>
              <a:rPr b="1" i="0" lang="en-US" sz="3400" u="none" cap="none" strike="noStrike">
                <a:solidFill>
                  <a:srgbClr val="2E63A2"/>
                </a:solidFill>
                <a:latin typeface="Arial"/>
                <a:ea typeface="Arial"/>
                <a:cs typeface="Arial"/>
                <a:sym typeface="Arial"/>
              </a:rPr>
              <a:t>16,52</a:t>
            </a:r>
            <a:endParaRPr b="0" i="0" sz="3400" u="none" cap="none" strike="noStrike">
              <a:solidFill>
                <a:schemeClr val="dk1"/>
              </a:solidFill>
              <a:latin typeface="Arial"/>
              <a:ea typeface="Arial"/>
              <a:cs typeface="Arial"/>
              <a:sym typeface="Arial"/>
            </a:endParaRPr>
          </a:p>
        </p:txBody>
      </p:sp>
      <p:sp>
        <p:nvSpPr>
          <p:cNvPr id="192" name="Google Shape;192;p9"/>
          <p:cNvSpPr/>
          <p:nvPr/>
        </p:nvSpPr>
        <p:spPr>
          <a:xfrm>
            <a:off x="3449574" y="2487168"/>
            <a:ext cx="2306574" cy="5120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Audio +</a:t>
            </a:r>
            <a:endParaRPr b="0" i="0" sz="15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estructura</a:t>
            </a:r>
            <a:endParaRPr b="0" i="0" sz="1500" u="none" cap="none" strike="noStrike">
              <a:solidFill>
                <a:schemeClr val="dk1"/>
              </a:solidFill>
              <a:latin typeface="Arial"/>
              <a:ea typeface="Arial"/>
              <a:cs typeface="Arial"/>
              <a:sym typeface="Arial"/>
            </a:endParaRPr>
          </a:p>
        </p:txBody>
      </p:sp>
      <p:cxnSp>
        <p:nvCxnSpPr>
          <p:cNvPr id="193" name="Google Shape;193;p9"/>
          <p:cNvCxnSpPr/>
          <p:nvPr/>
        </p:nvCxnSpPr>
        <p:spPr>
          <a:xfrm>
            <a:off x="5893308" y="2606040"/>
            <a:ext cx="402336" cy="0"/>
          </a:xfrm>
          <a:prstGeom prst="straightConnector1">
            <a:avLst/>
          </a:prstGeom>
          <a:noFill/>
          <a:ln cap="flat" cmpd="sng" w="12700">
            <a:solidFill>
              <a:srgbClr val="6B7280"/>
            </a:solidFill>
            <a:prstDash val="solid"/>
            <a:round/>
            <a:headEnd len="sm" w="sm" type="none"/>
            <a:tailEnd len="med" w="med" type="triangle"/>
          </a:ln>
        </p:spPr>
      </p:cxnSp>
      <p:sp>
        <p:nvSpPr>
          <p:cNvPr id="194" name="Google Shape;194;p9"/>
          <p:cNvSpPr/>
          <p:nvPr/>
        </p:nvSpPr>
        <p:spPr>
          <a:xfrm>
            <a:off x="6377940" y="1847088"/>
            <a:ext cx="2416302" cy="1517904"/>
          </a:xfrm>
          <a:prstGeom prst="roundRect">
            <a:avLst>
              <a:gd fmla="val 5926"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95" name="Google Shape;195;p9"/>
          <p:cNvSpPr/>
          <p:nvPr/>
        </p:nvSpPr>
        <p:spPr>
          <a:xfrm>
            <a:off x="6432804" y="1920240"/>
            <a:ext cx="2306574"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3400"/>
              <a:buFont typeface="Arial"/>
              <a:buNone/>
            </a:pPr>
            <a:r>
              <a:rPr b="1" i="0" lang="en-US" sz="3400" u="none" cap="none" strike="noStrike">
                <a:solidFill>
                  <a:srgbClr val="168A43"/>
                </a:solidFill>
                <a:latin typeface="Arial"/>
                <a:ea typeface="Arial"/>
                <a:cs typeface="Arial"/>
                <a:sym typeface="Arial"/>
              </a:rPr>
              <a:t>11,89</a:t>
            </a:r>
            <a:endParaRPr b="0" i="0" sz="3400" u="none" cap="none" strike="noStrike">
              <a:solidFill>
                <a:schemeClr val="dk1"/>
              </a:solidFill>
              <a:latin typeface="Arial"/>
              <a:ea typeface="Arial"/>
              <a:cs typeface="Arial"/>
              <a:sym typeface="Arial"/>
            </a:endParaRPr>
          </a:p>
        </p:txBody>
      </p:sp>
      <p:sp>
        <p:nvSpPr>
          <p:cNvPr id="196" name="Google Shape;196;p9"/>
          <p:cNvSpPr/>
          <p:nvPr/>
        </p:nvSpPr>
        <p:spPr>
          <a:xfrm>
            <a:off x="6432804" y="2487168"/>
            <a:ext cx="2306574" cy="5120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Género</a:t>
            </a:r>
            <a:endParaRPr b="0" i="0" sz="1500" u="none" cap="none" strike="noStrike">
              <a:solidFill>
                <a:schemeClr val="dk1"/>
              </a:solidFill>
              <a:latin typeface="Arial"/>
              <a:ea typeface="Arial"/>
              <a:cs typeface="Arial"/>
              <a:sym typeface="Arial"/>
            </a:endParaRPr>
          </a:p>
        </p:txBody>
      </p:sp>
      <p:cxnSp>
        <p:nvCxnSpPr>
          <p:cNvPr id="197" name="Google Shape;197;p9"/>
          <p:cNvCxnSpPr/>
          <p:nvPr/>
        </p:nvCxnSpPr>
        <p:spPr>
          <a:xfrm>
            <a:off x="8876538" y="2606040"/>
            <a:ext cx="402336" cy="0"/>
          </a:xfrm>
          <a:prstGeom prst="straightConnector1">
            <a:avLst/>
          </a:prstGeom>
          <a:noFill/>
          <a:ln cap="flat" cmpd="sng" w="12700">
            <a:solidFill>
              <a:srgbClr val="6B7280"/>
            </a:solidFill>
            <a:prstDash val="solid"/>
            <a:round/>
            <a:headEnd len="sm" w="sm" type="none"/>
            <a:tailEnd len="med" w="med" type="triangle"/>
          </a:ln>
        </p:spPr>
      </p:cxnSp>
      <p:sp>
        <p:nvSpPr>
          <p:cNvPr id="198" name="Google Shape;198;p9"/>
          <p:cNvSpPr/>
          <p:nvPr/>
        </p:nvSpPr>
        <p:spPr>
          <a:xfrm>
            <a:off x="9361170" y="1847088"/>
            <a:ext cx="2416302" cy="1517904"/>
          </a:xfrm>
          <a:prstGeom prst="roundRect">
            <a:avLst>
              <a:gd fmla="val 5926"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199" name="Google Shape;199;p9"/>
          <p:cNvSpPr/>
          <p:nvPr/>
        </p:nvSpPr>
        <p:spPr>
          <a:xfrm>
            <a:off x="9416034" y="1920240"/>
            <a:ext cx="2306574" cy="56692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3400"/>
              <a:buFont typeface="Arial"/>
              <a:buNone/>
            </a:pPr>
            <a:r>
              <a:rPr b="1" i="0" lang="en-US" sz="3400" u="none" cap="none" strike="noStrike">
                <a:solidFill>
                  <a:srgbClr val="8A6D00"/>
                </a:solidFill>
                <a:latin typeface="Arial"/>
                <a:ea typeface="Arial"/>
                <a:cs typeface="Arial"/>
                <a:sym typeface="Arial"/>
              </a:rPr>
              <a:t>11,83</a:t>
            </a:r>
            <a:endParaRPr b="0" i="0" sz="3400" u="none" cap="none" strike="noStrike">
              <a:solidFill>
                <a:schemeClr val="dk1"/>
              </a:solidFill>
              <a:latin typeface="Arial"/>
              <a:ea typeface="Arial"/>
              <a:cs typeface="Arial"/>
              <a:sym typeface="Arial"/>
            </a:endParaRPr>
          </a:p>
        </p:txBody>
      </p:sp>
      <p:sp>
        <p:nvSpPr>
          <p:cNvPr id="200" name="Google Shape;200;p9"/>
          <p:cNvSpPr/>
          <p:nvPr/>
        </p:nvSpPr>
        <p:spPr>
          <a:xfrm>
            <a:off x="9416034" y="2487168"/>
            <a:ext cx="2306574" cy="51206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Combinado</a:t>
            </a:r>
            <a:endParaRPr b="0" i="0" sz="1500" u="none" cap="none" strike="noStrike">
              <a:solidFill>
                <a:schemeClr val="dk1"/>
              </a:solidFill>
              <a:latin typeface="Arial"/>
              <a:ea typeface="Arial"/>
              <a:cs typeface="Arial"/>
              <a:sym typeface="Arial"/>
            </a:endParaRPr>
          </a:p>
        </p:txBody>
      </p:sp>
      <p:sp>
        <p:nvSpPr>
          <p:cNvPr id="201" name="Google Shape;201;p9"/>
          <p:cNvSpPr/>
          <p:nvPr/>
        </p:nvSpPr>
        <p:spPr>
          <a:xfrm>
            <a:off x="384048" y="1499616"/>
            <a:ext cx="2743200" cy="310896"/>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1700"/>
              <a:buFont typeface="Arial"/>
              <a:buNone/>
            </a:pPr>
            <a:r>
              <a:rPr b="1" i="0" lang="en-US" sz="1700" u="none" cap="none" strike="noStrike">
                <a:solidFill>
                  <a:srgbClr val="4B5563"/>
                </a:solidFill>
                <a:latin typeface="Arial"/>
                <a:ea typeface="Arial"/>
                <a:cs typeface="Arial"/>
                <a:sym typeface="Arial"/>
              </a:rPr>
              <a:t>MAE en test</a:t>
            </a:r>
            <a:endParaRPr b="0" i="0" sz="1700" u="none" cap="none" strike="noStrike">
              <a:solidFill>
                <a:schemeClr val="dk1"/>
              </a:solidFill>
              <a:latin typeface="Arial"/>
              <a:ea typeface="Arial"/>
              <a:cs typeface="Arial"/>
              <a:sym typeface="Arial"/>
            </a:endParaRPr>
          </a:p>
        </p:txBody>
      </p:sp>
      <p:sp>
        <p:nvSpPr>
          <p:cNvPr id="202" name="Google Shape;202;p9"/>
          <p:cNvSpPr/>
          <p:nvPr/>
        </p:nvSpPr>
        <p:spPr>
          <a:xfrm>
            <a:off x="8231399" y="3602736"/>
            <a:ext cx="3546073" cy="1682496"/>
          </a:xfrm>
          <a:prstGeom prst="roundRect">
            <a:avLst>
              <a:gd fmla="val 11111" name="adj"/>
            </a:avLst>
          </a:prstGeom>
          <a:solidFill>
            <a:srgbClr val="E8F8EE"/>
          </a:solidFill>
          <a:ln cap="flat" cmpd="sng" w="17350">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sz="2550"/>
          </a:p>
        </p:txBody>
      </p:sp>
      <p:sp>
        <p:nvSpPr>
          <p:cNvPr id="203" name="Google Shape;203;p9"/>
          <p:cNvSpPr/>
          <p:nvPr/>
        </p:nvSpPr>
        <p:spPr>
          <a:xfrm>
            <a:off x="8304551" y="3657600"/>
            <a:ext cx="3399769" cy="157276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68A43"/>
              </a:buClr>
              <a:buSzPts val="2800"/>
              <a:buFont typeface="Arial"/>
              <a:buNone/>
            </a:pPr>
            <a:r>
              <a:rPr b="1" i="0" lang="en-US" sz="2800" u="none" cap="none" strike="noStrike">
                <a:solidFill>
                  <a:srgbClr val="168A43"/>
                </a:solidFill>
                <a:latin typeface="Arial"/>
                <a:ea typeface="Arial"/>
                <a:cs typeface="Arial"/>
                <a:sym typeface="Arial"/>
              </a:rPr>
              <a:t>El salto relevante aparece al incorporar género</a:t>
            </a:r>
            <a:endParaRPr b="0" i="0" sz="2800" u="none" cap="none" strike="noStrike">
              <a:solidFill>
                <a:schemeClr val="dk1"/>
              </a:solidFill>
              <a:latin typeface="Arial"/>
              <a:ea typeface="Arial"/>
              <a:cs typeface="Arial"/>
              <a:sym typeface="Arial"/>
            </a:endParaRPr>
          </a:p>
        </p:txBody>
      </p:sp>
      <p:sp>
        <p:nvSpPr>
          <p:cNvPr id="204" name="Google Shape;204;p9"/>
          <p:cNvSpPr/>
          <p:nvPr/>
        </p:nvSpPr>
        <p:spPr>
          <a:xfrm>
            <a:off x="8231399" y="5394960"/>
            <a:ext cx="3546073" cy="78638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111827"/>
              </a:buClr>
              <a:buSzPts val="1600"/>
              <a:buFont typeface="Arial"/>
              <a:buNone/>
            </a:pPr>
            <a:r>
              <a:rPr b="0" i="0" lang="en-US" sz="1600" u="none" cap="none" strike="noStrike">
                <a:solidFill>
                  <a:srgbClr val="111827"/>
                </a:solidFill>
                <a:latin typeface="Arial"/>
                <a:ea typeface="Arial"/>
                <a:cs typeface="Arial"/>
                <a:sym typeface="Arial"/>
              </a:rPr>
              <a:t>Audio + estructura mejora poco frente al baseline; género reduce el error de forma considerable.</a:t>
            </a:r>
            <a:endParaRPr b="0" i="0" sz="1600" u="none" cap="none" strike="noStrike">
              <a:solidFill>
                <a:schemeClr val="dk1"/>
              </a:solidFill>
              <a:latin typeface="Arial"/>
              <a:ea typeface="Arial"/>
              <a:cs typeface="Arial"/>
              <a:sym typeface="Arial"/>
            </a:endParaRPr>
          </a:p>
        </p:txBody>
      </p:sp>
      <p:sp>
        <p:nvSpPr>
          <p:cNvPr id="205" name="Google Shape;205;p9"/>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Mismo algoritmo · distinta información</a:t>
            </a:r>
            <a:endParaRPr b="0" i="0" sz="1200" u="none" cap="none" strike="noStrike">
              <a:solidFill>
                <a:schemeClr val="dk1"/>
              </a:solidFill>
              <a:latin typeface="Arial"/>
              <a:ea typeface="Arial"/>
              <a:cs typeface="Arial"/>
              <a:sym typeface="Arial"/>
            </a:endParaRPr>
          </a:p>
        </p:txBody>
      </p:sp>
      <p:sp>
        <p:nvSpPr>
          <p:cNvPr id="206" name="Google Shape;206;p9"/>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pic>
        <p:nvPicPr>
          <p:cNvPr id="207" name="Google Shape;207;p9"/>
          <p:cNvPicPr preferRelativeResize="0"/>
          <p:nvPr/>
        </p:nvPicPr>
        <p:blipFill>
          <a:blip r:embed="rId3">
            <a:alphaModFix/>
          </a:blip>
          <a:stretch>
            <a:fillRect/>
          </a:stretch>
        </p:blipFill>
        <p:spPr>
          <a:xfrm>
            <a:off x="411480" y="3602736"/>
            <a:ext cx="7527311" cy="2560320"/>
          </a:xfrm>
          <a:prstGeom prst="rect">
            <a:avLst/>
          </a:prstGeom>
          <a:noFill/>
          <a:ln>
            <a:noFill/>
          </a:ln>
        </p:spPr>
      </p:pic>
      <p:sp>
        <p:nvSpPr>
          <p:cNvPr id="208" name="Google Shape;208;p9"/>
          <p:cNvSpPr/>
          <p:nvPr/>
        </p:nvSpPr>
        <p:spPr>
          <a:xfrm>
            <a:off x="3449574" y="2999232"/>
            <a:ext cx="2306574" cy="29260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68716B"/>
              </a:buClr>
              <a:buSzPts val="1500"/>
              <a:buFont typeface="Arial"/>
              <a:buNone/>
            </a:pPr>
            <a:r>
              <a:rPr b="0" i="0" lang="en-US" sz="1500" u="none" cap="none" strike="noStrike">
                <a:solidFill>
                  <a:srgbClr val="68716B"/>
                </a:solidFill>
                <a:latin typeface="Arial"/>
                <a:ea typeface="Arial"/>
                <a:cs typeface="Arial"/>
                <a:sym typeface="Arial"/>
              </a:rPr>
              <a:t>R² 0,04</a:t>
            </a:r>
            <a:endParaRPr b="0" i="0" sz="1500" u="none" cap="none" strike="noStrike">
              <a:solidFill>
                <a:srgbClr val="000000"/>
              </a:solidFill>
              <a:latin typeface="Arial"/>
              <a:ea typeface="Arial"/>
              <a:cs typeface="Arial"/>
              <a:sym typeface="Arial"/>
            </a:endParaRPr>
          </a:p>
        </p:txBody>
      </p:sp>
      <p:sp>
        <p:nvSpPr>
          <p:cNvPr id="209" name="Google Shape;209;p9"/>
          <p:cNvSpPr/>
          <p:nvPr/>
        </p:nvSpPr>
        <p:spPr>
          <a:xfrm>
            <a:off x="6432804" y="2999232"/>
            <a:ext cx="2306574" cy="29260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68716B"/>
              </a:buClr>
              <a:buSzPts val="1500"/>
              <a:buFont typeface="Arial"/>
              <a:buNone/>
            </a:pPr>
            <a:r>
              <a:rPr b="0" i="0" lang="en-US" sz="1500" u="none" cap="none" strike="noStrike">
                <a:solidFill>
                  <a:srgbClr val="68716B"/>
                </a:solidFill>
                <a:latin typeface="Arial"/>
                <a:ea typeface="Arial"/>
                <a:cs typeface="Arial"/>
                <a:sym typeface="Arial"/>
              </a:rPr>
              <a:t>R² 0,35</a:t>
            </a:r>
            <a:endParaRPr b="0" i="0" sz="1500" u="none" cap="none" strike="noStrike">
              <a:solidFill>
                <a:srgbClr val="000000"/>
              </a:solidFill>
              <a:latin typeface="Arial"/>
              <a:ea typeface="Arial"/>
              <a:cs typeface="Arial"/>
              <a:sym typeface="Arial"/>
            </a:endParaRPr>
          </a:p>
        </p:txBody>
      </p:sp>
      <p:sp>
        <p:nvSpPr>
          <p:cNvPr id="210" name="Google Shape;210;p9"/>
          <p:cNvSpPr/>
          <p:nvPr/>
        </p:nvSpPr>
        <p:spPr>
          <a:xfrm>
            <a:off x="9416034" y="2999232"/>
            <a:ext cx="2306574" cy="292608"/>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68716B"/>
              </a:buClr>
              <a:buSzPts val="1500"/>
              <a:buFont typeface="Arial"/>
              <a:buNone/>
            </a:pPr>
            <a:r>
              <a:rPr b="0" i="0" lang="en-US" sz="1500" u="none" cap="none" strike="noStrike">
                <a:solidFill>
                  <a:srgbClr val="68716B"/>
                </a:solidFill>
                <a:latin typeface="Arial"/>
                <a:ea typeface="Arial"/>
                <a:cs typeface="Arial"/>
                <a:sym typeface="Arial"/>
              </a:rPr>
              <a:t>R² 0,35</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06 · REGRESIÓN LINEAL</a:t>
            </a:r>
            <a:endParaRPr b="0" i="0" sz="1300" u="none" cap="none" strike="noStrike">
              <a:solidFill>
                <a:schemeClr val="dk1"/>
              </a:solidFill>
              <a:latin typeface="Arial"/>
              <a:ea typeface="Arial"/>
              <a:cs typeface="Arial"/>
              <a:sym typeface="Arial"/>
            </a:endParaRPr>
          </a:p>
        </p:txBody>
      </p:sp>
      <p:sp>
        <p:nvSpPr>
          <p:cNvPr id="217" name="Google Shape;217;p10"/>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¿Qué asociaciones aprendió el modelo?</a:t>
            </a:r>
            <a:endParaRPr b="0" i="0" sz="3400" u="none" cap="none" strike="noStrike">
              <a:solidFill>
                <a:schemeClr val="dk1"/>
              </a:solidFill>
              <a:latin typeface="Arial"/>
              <a:ea typeface="Arial"/>
              <a:cs typeface="Arial"/>
              <a:sym typeface="Arial"/>
            </a:endParaRPr>
          </a:p>
        </p:txBody>
      </p:sp>
      <p:sp>
        <p:nvSpPr>
          <p:cNvPr id="218" name="Google Shape;218;p10"/>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El género fue la fuente de información con mayor impacto en la estimación.</a:t>
            </a:r>
            <a:endParaRPr b="0" i="0" sz="2000" u="none" cap="none" strike="noStrike">
              <a:solidFill>
                <a:schemeClr val="dk1"/>
              </a:solidFill>
              <a:latin typeface="Arial"/>
              <a:ea typeface="Arial"/>
              <a:cs typeface="Arial"/>
              <a:sym typeface="Arial"/>
            </a:endParaRPr>
          </a:p>
        </p:txBody>
      </p:sp>
      <p:pic>
        <p:nvPicPr>
          <p:cNvPr descr="/mnt/data/ppt_assets/10_coeficientes_generos.png" id="219" name="Google Shape;219;p10"/>
          <p:cNvPicPr preferRelativeResize="0"/>
          <p:nvPr/>
        </p:nvPicPr>
        <p:blipFill rotWithShape="1">
          <a:blip r:embed="rId3">
            <a:alphaModFix/>
          </a:blip>
          <a:srcRect b="0" l="0" r="0" t="0"/>
          <a:stretch/>
        </p:blipFill>
        <p:spPr>
          <a:xfrm>
            <a:off x="411480" y="1517904"/>
            <a:ext cx="7067782" cy="4681728"/>
          </a:xfrm>
          <a:prstGeom prst="rect">
            <a:avLst/>
          </a:prstGeom>
          <a:noFill/>
          <a:ln>
            <a:noFill/>
          </a:ln>
        </p:spPr>
      </p:pic>
      <p:sp>
        <p:nvSpPr>
          <p:cNvPr id="220" name="Google Shape;220;p10"/>
          <p:cNvSpPr/>
          <p:nvPr/>
        </p:nvSpPr>
        <p:spPr>
          <a:xfrm>
            <a:off x="7771870" y="1591056"/>
            <a:ext cx="4005602" cy="1389888"/>
          </a:xfrm>
          <a:prstGeom prst="roundRect">
            <a:avLst>
              <a:gd fmla="val 8197"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21" name="Google Shape;221;p10"/>
          <p:cNvSpPr/>
          <p:nvPr/>
        </p:nvSpPr>
        <p:spPr>
          <a:xfrm>
            <a:off x="7954750" y="1682496"/>
            <a:ext cx="3639842"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900"/>
              <a:buFont typeface="Arial"/>
              <a:buNone/>
            </a:pPr>
            <a:r>
              <a:rPr b="1" i="0" lang="en-US" sz="1900" u="none" cap="none" strike="noStrike">
                <a:solidFill>
                  <a:srgbClr val="168A43"/>
                </a:solidFill>
                <a:latin typeface="Arial"/>
                <a:ea typeface="Arial"/>
                <a:cs typeface="Arial"/>
                <a:sym typeface="Arial"/>
              </a:rPr>
              <a:t>Lectura del gráfico</a:t>
            </a:r>
            <a:endParaRPr b="0" i="0" sz="1900" u="none" cap="none" strike="noStrike">
              <a:solidFill>
                <a:schemeClr val="dk1"/>
              </a:solidFill>
              <a:latin typeface="Arial"/>
              <a:ea typeface="Arial"/>
              <a:cs typeface="Arial"/>
              <a:sym typeface="Arial"/>
            </a:endParaRPr>
          </a:p>
        </p:txBody>
      </p:sp>
      <p:sp>
        <p:nvSpPr>
          <p:cNvPr id="222" name="Google Shape;222;p10"/>
          <p:cNvSpPr/>
          <p:nvPr/>
        </p:nvSpPr>
        <p:spPr>
          <a:xfrm>
            <a:off x="7954750" y="2093976"/>
            <a:ext cx="3694706"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Coeficientes positivos y negativos muestran asociaciones aprendidas por el modelo combinado.</a:t>
            </a:r>
            <a:endParaRPr b="0" i="0" sz="1700" u="none" cap="none" strike="noStrike">
              <a:solidFill>
                <a:schemeClr val="dk1"/>
              </a:solidFill>
              <a:latin typeface="Arial"/>
              <a:ea typeface="Arial"/>
              <a:cs typeface="Arial"/>
              <a:sym typeface="Arial"/>
            </a:endParaRPr>
          </a:p>
        </p:txBody>
      </p:sp>
      <p:sp>
        <p:nvSpPr>
          <p:cNvPr id="223" name="Google Shape;223;p10"/>
          <p:cNvSpPr/>
          <p:nvPr/>
        </p:nvSpPr>
        <p:spPr>
          <a:xfrm>
            <a:off x="7771870" y="3200400"/>
            <a:ext cx="4005602" cy="1389888"/>
          </a:xfrm>
          <a:prstGeom prst="roundRect">
            <a:avLst>
              <a:gd fmla="val 8197"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24" name="Google Shape;224;p10"/>
          <p:cNvSpPr/>
          <p:nvPr/>
        </p:nvSpPr>
        <p:spPr>
          <a:xfrm>
            <a:off x="7954750" y="3291840"/>
            <a:ext cx="3639842"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D94848"/>
              </a:buClr>
              <a:buSzPts val="1900"/>
              <a:buFont typeface="Arial"/>
              <a:buNone/>
            </a:pPr>
            <a:r>
              <a:rPr b="1" i="0" lang="en-US" sz="1900" u="none" cap="none" strike="noStrike">
                <a:solidFill>
                  <a:srgbClr val="D94848"/>
                </a:solidFill>
                <a:latin typeface="Arial"/>
                <a:ea typeface="Arial"/>
                <a:cs typeface="Arial"/>
                <a:sym typeface="Arial"/>
              </a:rPr>
              <a:t>Precaución</a:t>
            </a:r>
            <a:endParaRPr b="0" i="0" sz="1900" u="none" cap="none" strike="noStrike">
              <a:solidFill>
                <a:schemeClr val="dk1"/>
              </a:solidFill>
              <a:latin typeface="Arial"/>
              <a:ea typeface="Arial"/>
              <a:cs typeface="Arial"/>
              <a:sym typeface="Arial"/>
            </a:endParaRPr>
          </a:p>
        </p:txBody>
      </p:sp>
      <p:sp>
        <p:nvSpPr>
          <p:cNvPr id="225" name="Google Shape;225;p10"/>
          <p:cNvSpPr/>
          <p:nvPr/>
        </p:nvSpPr>
        <p:spPr>
          <a:xfrm>
            <a:off x="7954750" y="3703320"/>
            <a:ext cx="3694706"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Asociación aprendida no significa causalidad ni calidad musical.</a:t>
            </a:r>
            <a:endParaRPr b="0" i="0" sz="1700" u="none" cap="none" strike="noStrike">
              <a:solidFill>
                <a:schemeClr val="dk1"/>
              </a:solidFill>
              <a:latin typeface="Arial"/>
              <a:ea typeface="Arial"/>
              <a:cs typeface="Arial"/>
              <a:sym typeface="Arial"/>
            </a:endParaRPr>
          </a:p>
        </p:txBody>
      </p:sp>
      <p:sp>
        <p:nvSpPr>
          <p:cNvPr id="226" name="Google Shape;226;p10"/>
          <p:cNvSpPr/>
          <p:nvPr/>
        </p:nvSpPr>
        <p:spPr>
          <a:xfrm>
            <a:off x="7771870" y="4809744"/>
            <a:ext cx="4005602" cy="1389888"/>
          </a:xfrm>
          <a:prstGeom prst="roundRect">
            <a:avLst>
              <a:gd fmla="val 10000"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27" name="Google Shape;227;p10"/>
          <p:cNvSpPr/>
          <p:nvPr/>
        </p:nvSpPr>
        <p:spPr>
          <a:xfrm>
            <a:off x="7954750" y="4901184"/>
            <a:ext cx="3639842"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900"/>
              <a:buFont typeface="Arial"/>
              <a:buNone/>
            </a:pPr>
            <a:r>
              <a:rPr b="1" i="0" lang="en-US" sz="1900" u="none" cap="none" strike="noStrike">
                <a:solidFill>
                  <a:srgbClr val="2E63A2"/>
                </a:solidFill>
                <a:latin typeface="Arial"/>
                <a:ea typeface="Arial"/>
                <a:cs typeface="Arial"/>
                <a:sym typeface="Arial"/>
              </a:rPr>
              <a:t>Respuesta parcial</a:t>
            </a:r>
            <a:endParaRPr b="0" i="0" sz="1900" u="none" cap="none" strike="noStrike">
              <a:solidFill>
                <a:schemeClr val="dk1"/>
              </a:solidFill>
              <a:latin typeface="Arial"/>
              <a:ea typeface="Arial"/>
              <a:cs typeface="Arial"/>
              <a:sym typeface="Arial"/>
            </a:endParaRPr>
          </a:p>
        </p:txBody>
      </p:sp>
      <p:sp>
        <p:nvSpPr>
          <p:cNvPr id="228" name="Google Shape;228;p10"/>
          <p:cNvSpPr/>
          <p:nvPr/>
        </p:nvSpPr>
        <p:spPr>
          <a:xfrm>
            <a:off x="7954750" y="5312664"/>
            <a:ext cx="3694706"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El modelo usa fuertemente señales asociadas al género.</a:t>
            </a:r>
            <a:endParaRPr b="0" i="0" sz="1700" u="none" cap="none" strike="noStrike">
              <a:solidFill>
                <a:schemeClr val="dk1"/>
              </a:solidFill>
              <a:latin typeface="Arial"/>
              <a:ea typeface="Arial"/>
              <a:cs typeface="Arial"/>
              <a:sym typeface="Arial"/>
            </a:endParaRPr>
          </a:p>
        </p:txBody>
      </p:sp>
      <p:sp>
        <p:nvSpPr>
          <p:cNvPr id="229" name="Google Shape;229;p10"/>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El gráfico no es EDA: es interpretación del modelo entrenado</a:t>
            </a:r>
            <a:endParaRPr b="0" i="0" sz="1200" u="none" cap="none" strike="noStrike">
              <a:solidFill>
                <a:schemeClr val="dk1"/>
              </a:solidFill>
              <a:latin typeface="Arial"/>
              <a:ea typeface="Arial"/>
              <a:cs typeface="Arial"/>
              <a:sym typeface="Arial"/>
            </a:endParaRPr>
          </a:p>
        </p:txBody>
      </p:sp>
      <p:sp>
        <p:nvSpPr>
          <p:cNvPr id="230" name="Google Shape;230;p10"/>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1"/>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07 · SUPERVISADO · ÁRBOL DE DECISIÓN</a:t>
            </a:r>
            <a:endParaRPr b="0" i="0" sz="1300" u="none" cap="none" strike="noStrike">
              <a:solidFill>
                <a:schemeClr val="dk1"/>
              </a:solidFill>
              <a:latin typeface="Arial"/>
              <a:ea typeface="Arial"/>
              <a:cs typeface="Arial"/>
              <a:sym typeface="Arial"/>
            </a:endParaRPr>
          </a:p>
        </p:txBody>
      </p:sp>
      <p:sp>
        <p:nvSpPr>
          <p:cNvPr id="237" name="Google Shape;237;p11"/>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¿Mejora el resultado al cambiar el algoritmo?</a:t>
            </a:r>
            <a:endParaRPr b="0" i="0" sz="3400" u="none" cap="none" strike="noStrike">
              <a:solidFill>
                <a:schemeClr val="dk1"/>
              </a:solidFill>
              <a:latin typeface="Arial"/>
              <a:ea typeface="Arial"/>
              <a:cs typeface="Arial"/>
              <a:sym typeface="Arial"/>
            </a:endParaRPr>
          </a:p>
        </p:txBody>
      </p:sp>
      <p:sp>
        <p:nvSpPr>
          <p:cNvPr id="238" name="Google Shape;238;p11"/>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Misma información combinada; ahora permitimos relaciones no lineales e interacciones.</a:t>
            </a:r>
            <a:endParaRPr b="0" i="0" sz="2000" u="none" cap="none" strike="noStrike">
              <a:solidFill>
                <a:schemeClr val="dk1"/>
              </a:solidFill>
              <a:latin typeface="Arial"/>
              <a:ea typeface="Arial"/>
              <a:cs typeface="Arial"/>
              <a:sym typeface="Arial"/>
            </a:endParaRPr>
          </a:p>
        </p:txBody>
      </p:sp>
      <p:pic>
        <p:nvPicPr>
          <p:cNvPr descr="/mnt/data/ppt_assets/12_arbol_real_vs_predicho.png" id="239" name="Google Shape;239;p11"/>
          <p:cNvPicPr preferRelativeResize="0"/>
          <p:nvPr/>
        </p:nvPicPr>
        <p:blipFill rotWithShape="1">
          <a:blip r:embed="rId3">
            <a:alphaModFix/>
          </a:blip>
          <a:srcRect b="0" l="0" r="0" t="0"/>
          <a:stretch/>
        </p:blipFill>
        <p:spPr>
          <a:xfrm>
            <a:off x="411480" y="1517904"/>
            <a:ext cx="5874244" cy="4681728"/>
          </a:xfrm>
          <a:prstGeom prst="rect">
            <a:avLst/>
          </a:prstGeom>
          <a:noFill/>
          <a:ln>
            <a:noFill/>
          </a:ln>
        </p:spPr>
      </p:pic>
      <p:sp>
        <p:nvSpPr>
          <p:cNvPr id="240" name="Google Shape;240;p11"/>
          <p:cNvSpPr/>
          <p:nvPr/>
        </p:nvSpPr>
        <p:spPr>
          <a:xfrm>
            <a:off x="6578332" y="1517904"/>
            <a:ext cx="5199140" cy="987552"/>
          </a:xfrm>
          <a:prstGeom prst="roundRect">
            <a:avLst>
              <a:gd fmla="val 8696"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41" name="Google Shape;241;p11"/>
          <p:cNvSpPr/>
          <p:nvPr/>
        </p:nvSpPr>
        <p:spPr>
          <a:xfrm>
            <a:off x="6779500" y="1591056"/>
            <a:ext cx="4796804" cy="34747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800"/>
              <a:buFont typeface="Arial"/>
              <a:buNone/>
            </a:pPr>
            <a:r>
              <a:rPr b="1" i="0" lang="en-US" sz="1800" u="none" cap="none" strike="noStrike">
                <a:solidFill>
                  <a:srgbClr val="168A43"/>
                </a:solidFill>
                <a:latin typeface="Arial"/>
                <a:ea typeface="Arial"/>
                <a:cs typeface="Arial"/>
                <a:sym typeface="Arial"/>
              </a:rPr>
              <a:t>Árbol de Decisión</a:t>
            </a:r>
            <a:endParaRPr b="0" i="0" sz="1800" u="none" cap="none" strike="noStrike">
              <a:solidFill>
                <a:schemeClr val="dk1"/>
              </a:solidFill>
              <a:latin typeface="Arial"/>
              <a:ea typeface="Arial"/>
              <a:cs typeface="Arial"/>
              <a:sym typeface="Arial"/>
            </a:endParaRPr>
          </a:p>
        </p:txBody>
      </p:sp>
      <p:sp>
        <p:nvSpPr>
          <p:cNvPr id="242" name="Google Shape;242;p11"/>
          <p:cNvSpPr/>
          <p:nvPr/>
        </p:nvSpPr>
        <p:spPr>
          <a:xfrm>
            <a:off x="6779500" y="1938528"/>
            <a:ext cx="4833380" cy="51206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000"/>
              <a:buFont typeface="Arial"/>
              <a:buNone/>
            </a:pPr>
            <a:r>
              <a:rPr b="1" i="0" lang="en-US" sz="3000" u="none" cap="none" strike="noStrike">
                <a:solidFill>
                  <a:srgbClr val="111827"/>
                </a:solidFill>
                <a:latin typeface="Arial"/>
                <a:ea typeface="Arial"/>
                <a:cs typeface="Arial"/>
                <a:sym typeface="Arial"/>
              </a:rPr>
              <a:t>MAE 11,16 · R² 0,37</a:t>
            </a:r>
            <a:endParaRPr b="0" i="0" sz="3000" u="none" cap="none" strike="noStrike">
              <a:solidFill>
                <a:schemeClr val="dk1"/>
              </a:solidFill>
              <a:latin typeface="Arial"/>
              <a:ea typeface="Arial"/>
              <a:cs typeface="Arial"/>
              <a:sym typeface="Arial"/>
            </a:endParaRPr>
          </a:p>
        </p:txBody>
      </p:sp>
      <p:sp>
        <p:nvSpPr>
          <p:cNvPr id="243" name="Google Shape;243;p11"/>
          <p:cNvSpPr/>
          <p:nvPr/>
        </p:nvSpPr>
        <p:spPr>
          <a:xfrm>
            <a:off x="6578332" y="2651760"/>
            <a:ext cx="5199140" cy="822960"/>
          </a:xfrm>
          <a:prstGeom prst="roundRect">
            <a:avLst>
              <a:gd fmla="val 10000" name="adj"/>
            </a:avLst>
          </a:prstGeom>
          <a:solidFill>
            <a:srgbClr val="FFFFFF"/>
          </a:solidFill>
          <a:ln cap="flat" cmpd="sng" w="9525">
            <a:solidFill>
              <a:srgbClr val="D9E0D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44" name="Google Shape;244;p11"/>
          <p:cNvSpPr/>
          <p:nvPr/>
        </p:nvSpPr>
        <p:spPr>
          <a:xfrm>
            <a:off x="6779500" y="2706624"/>
            <a:ext cx="4796804"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1600"/>
              <a:buFont typeface="Arial"/>
              <a:buNone/>
            </a:pPr>
            <a:r>
              <a:rPr b="1" i="0" lang="en-US" sz="1600" u="none" cap="none" strike="noStrike">
                <a:solidFill>
                  <a:srgbClr val="4B5563"/>
                </a:solidFill>
                <a:latin typeface="Arial"/>
                <a:ea typeface="Arial"/>
                <a:cs typeface="Arial"/>
                <a:sym typeface="Arial"/>
              </a:rPr>
              <a:t>Comparación directa</a:t>
            </a:r>
            <a:endParaRPr b="0" i="0" sz="1600" u="none" cap="none" strike="noStrike">
              <a:solidFill>
                <a:schemeClr val="dk1"/>
              </a:solidFill>
              <a:latin typeface="Arial"/>
              <a:ea typeface="Arial"/>
              <a:cs typeface="Arial"/>
              <a:sym typeface="Arial"/>
            </a:endParaRPr>
          </a:p>
        </p:txBody>
      </p:sp>
      <p:sp>
        <p:nvSpPr>
          <p:cNvPr id="245" name="Google Shape;245;p11"/>
          <p:cNvSpPr/>
          <p:nvPr/>
        </p:nvSpPr>
        <p:spPr>
          <a:xfrm>
            <a:off x="6779500" y="3035808"/>
            <a:ext cx="483338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1" i="0" lang="en-US" sz="1800" u="none" cap="none" strike="noStrike">
                <a:solidFill>
                  <a:srgbClr val="111827"/>
                </a:solidFill>
                <a:latin typeface="Arial"/>
                <a:ea typeface="Arial"/>
                <a:cs typeface="Arial"/>
                <a:sym typeface="Arial"/>
              </a:rPr>
              <a:t>Lineal 11,83 / 0,35  →  Árbol 11,16 / 0,37</a:t>
            </a:r>
            <a:endParaRPr b="0" i="0" sz="1800" u="none" cap="none" strike="noStrike">
              <a:solidFill>
                <a:schemeClr val="dk1"/>
              </a:solidFill>
              <a:latin typeface="Arial"/>
              <a:ea typeface="Arial"/>
              <a:cs typeface="Arial"/>
              <a:sym typeface="Arial"/>
            </a:endParaRPr>
          </a:p>
        </p:txBody>
      </p:sp>
      <p:sp>
        <p:nvSpPr>
          <p:cNvPr id="246" name="Google Shape;246;p11"/>
          <p:cNvSpPr/>
          <p:nvPr/>
        </p:nvSpPr>
        <p:spPr>
          <a:xfrm>
            <a:off x="6578332" y="3621024"/>
            <a:ext cx="5199140" cy="1773936"/>
          </a:xfrm>
          <a:prstGeom prst="roundRect">
            <a:avLst>
              <a:gd fmla="val 9804"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47" name="Google Shape;247;p11"/>
          <p:cNvSpPr/>
          <p:nvPr/>
        </p:nvSpPr>
        <p:spPr>
          <a:xfrm>
            <a:off x="6779500" y="3675888"/>
            <a:ext cx="4796804" cy="347472"/>
          </a:xfrm>
          <a:prstGeom prst="rect">
            <a:avLst/>
          </a:prstGeom>
          <a:noFill/>
          <a:ln>
            <a:noFill/>
          </a:ln>
        </p:spPr>
        <p:txBody>
          <a:bodyPr anchorCtr="0" anchor="ctr" bIns="18288" lIns="27432" spcFirstLastPara="1" rIns="27432" wrap="square" tIns="18288">
            <a:normAutofit/>
          </a:bodyPr>
          <a:lstStyle/>
          <a:p>
            <a:r>
              <a:rPr sz="1700" b="1"/>
              <a:t>Configuración por validación cruzada</a:t>
            </a:r>
          </a:p>
        </p:txBody>
      </p:sp>
      <p:sp>
        <p:nvSpPr>
          <p:cNvPr id="248" name="Google Shape;248;p11"/>
          <p:cNvSpPr/>
          <p:nvPr/>
        </p:nvSpPr>
        <p:spPr>
          <a:xfrm>
            <a:off x="6779500" y="4023360"/>
            <a:ext cx="4833380" cy="1335024"/>
          </a:xfrm>
          <a:prstGeom prst="rect">
            <a:avLst/>
          </a:prstGeom>
          <a:noFill/>
          <a:ln>
            <a:noFill/>
          </a:ln>
        </p:spPr>
        <p:txBody>
          <a:bodyPr anchorCtr="0" anchor="ctr" bIns="18288" lIns="27432" spcFirstLastPara="1" rIns="27432" wrap="square" tIns="18288">
            <a:normAutofit/>
          </a:bodyPr>
          <a:lstStyle/>
          <a:p>
            <a:pPr>
              <a:lnSpc>
                <a:spcPct val="100000"/>
              </a:lnSpc>
              <a:spcAft>
                <a:spcPts val="150"/>
              </a:spcAft>
            </a:pPr>
            <a:r>
              <a:rPr sz="1600" b="0"/>
              <a:t>6 combinaciones · CV = 3 · criterio: MAE</a:t>
            </a:r>
          </a:p>
          <a:p>
            <a:pPr>
              <a:lnSpc>
                <a:spcPct val="100000"/>
              </a:lnSpc>
              <a:spcAft>
                <a:spcPts val="150"/>
              </a:spcAft>
            </a:pPr>
            <a:r>
              <a:rPr sz="1600" b="0"/>
              <a:t>max_depth: 12 · 20 · sin límite</a:t>
            </a:r>
          </a:p>
          <a:p>
            <a:pPr>
              <a:lnSpc>
                <a:spcPct val="100000"/>
              </a:lnSpc>
              <a:spcAft>
                <a:spcPts val="150"/>
              </a:spcAft>
            </a:pPr>
            <a:r>
              <a:rPr sz="1600" b="0"/>
              <a:t>min_samples_leaf: 10 · 30</a:t>
            </a:r>
          </a:p>
          <a:p>
            <a:pPr>
              <a:lnSpc>
                <a:spcPct val="100000"/>
              </a:lnSpc>
              <a:spcAft>
                <a:spcPts val="150"/>
              </a:spcAft>
            </a:pPr>
            <a:r>
              <a:rPr sz="1600" b="1"/>
              <a:t>Mejor: sin límite · min_samples_leaf = 30</a:t>
            </a:r>
          </a:p>
          <a:p>
            <a:pPr>
              <a:lnSpc>
                <a:spcPct val="100000"/>
              </a:lnSpc>
              <a:spcAft>
                <a:spcPts val="150"/>
              </a:spcAft>
            </a:pPr>
            <a:r>
              <a:rPr sz="1600" b="1"/>
              <a:t>MAE promedio CV ≈ 11,47</a:t>
            </a:r>
          </a:p>
        </p:txBody>
      </p:sp>
      <p:sp>
        <p:nvSpPr>
          <p:cNvPr id="249" name="Google Shape;249;p11"/>
          <p:cNvSpPr/>
          <p:nvPr/>
        </p:nvSpPr>
        <p:spPr>
          <a:xfrm>
            <a:off x="6578332" y="5541264"/>
            <a:ext cx="5199140" cy="640080"/>
          </a:xfrm>
          <a:prstGeom prst="roundRect">
            <a:avLst>
              <a:gd fmla="val 12903"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50" name="Google Shape;250;p11"/>
          <p:cNvSpPr/>
          <p:nvPr/>
        </p:nvSpPr>
        <p:spPr>
          <a:xfrm>
            <a:off x="7184510" y="5541264"/>
            <a:ext cx="3986784" cy="640080"/>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1800"/>
              <a:buFont typeface="Arial"/>
              <a:buNone/>
            </a:pPr>
            <a:r>
              <a:rPr b="1" i="0" lang="en-US" sz="1800" u="none" cap="none" strike="noStrike">
                <a:solidFill>
                  <a:srgbClr val="8A6D00"/>
                </a:solidFill>
                <a:latin typeface="Arial"/>
                <a:ea typeface="Arial"/>
                <a:cs typeface="Arial"/>
                <a:sym typeface="Arial"/>
              </a:rPr>
              <a:t>El Árbol mejora, pero menos que incorporar género.</a:t>
            </a:r>
            <a:endParaRPr b="0" i="0" sz="1800" u="none" cap="none" strike="noStrike">
              <a:solidFill>
                <a:schemeClr val="dk1"/>
              </a:solidFill>
              <a:latin typeface="Arial"/>
              <a:ea typeface="Arial"/>
              <a:cs typeface="Arial"/>
              <a:sym typeface="Arial"/>
            </a:endParaRPr>
          </a:p>
        </p:txBody>
      </p:sp>
      <p:sp>
        <p:nvSpPr>
          <p:cNvPr id="251" name="Google Shape;251;p11"/>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Misma información · distinto algoritmo</a:t>
            </a:r>
            <a:endParaRPr b="0" i="0" sz="1200" u="none" cap="none" strike="noStrike">
              <a:solidFill>
                <a:schemeClr val="dk1"/>
              </a:solidFill>
              <a:latin typeface="Arial"/>
              <a:ea typeface="Arial"/>
              <a:cs typeface="Arial"/>
              <a:sym typeface="Arial"/>
            </a:endParaRPr>
          </a:p>
        </p:txBody>
      </p:sp>
      <p:sp>
        <p:nvSpPr>
          <p:cNvPr id="252" name="Google Shape;252;p11"/>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2"/>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08 · NO SUPERVISADO · K-MEANS</a:t>
            </a:r>
            <a:endParaRPr b="0" i="0" sz="1300" u="none" cap="none" strike="noStrike">
              <a:solidFill>
                <a:schemeClr val="dk1"/>
              </a:solidFill>
              <a:latin typeface="Arial"/>
              <a:ea typeface="Arial"/>
              <a:cs typeface="Arial"/>
              <a:sym typeface="Arial"/>
            </a:endParaRPr>
          </a:p>
        </p:txBody>
      </p:sp>
      <p:sp>
        <p:nvSpPr>
          <p:cNvPr id="259" name="Google Shape;259;p12"/>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¿Cómo buscamos estructura sonora?</a:t>
            </a:r>
            <a:endParaRPr b="0" i="0" sz="3400" u="none" cap="none" strike="noStrike">
              <a:solidFill>
                <a:schemeClr val="dk1"/>
              </a:solidFill>
              <a:latin typeface="Arial"/>
              <a:ea typeface="Arial"/>
              <a:cs typeface="Arial"/>
              <a:sym typeface="Arial"/>
            </a:endParaRPr>
          </a:p>
        </p:txBody>
      </p:sp>
      <p:sp>
        <p:nvSpPr>
          <p:cNvPr id="260" name="Google Shape;260;p12"/>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Los clusters se forman solo con características de audio estandarizadas.</a:t>
            </a:r>
            <a:endParaRPr b="0" i="0" sz="2000" u="none" cap="none" strike="noStrike">
              <a:solidFill>
                <a:schemeClr val="dk1"/>
              </a:solidFill>
              <a:latin typeface="Arial"/>
              <a:ea typeface="Arial"/>
              <a:cs typeface="Arial"/>
              <a:sym typeface="Arial"/>
            </a:endParaRPr>
          </a:p>
        </p:txBody>
      </p:sp>
      <p:pic>
        <p:nvPicPr>
          <p:cNvPr descr="/mnt/data/ppt_assets/14_kmeans_seleccion_k.png" id="261" name="Google Shape;261;p12"/>
          <p:cNvPicPr preferRelativeResize="0"/>
          <p:nvPr/>
        </p:nvPicPr>
        <p:blipFill rotWithShape="1">
          <a:blip r:embed="rId3">
            <a:alphaModFix/>
          </a:blip>
          <a:srcRect b="0" l="0" r="0" t="0"/>
          <a:stretch/>
        </p:blipFill>
        <p:spPr>
          <a:xfrm>
            <a:off x="411480" y="2291184"/>
            <a:ext cx="7891272" cy="3208320"/>
          </a:xfrm>
          <a:prstGeom prst="rect">
            <a:avLst/>
          </a:prstGeom>
          <a:noFill/>
          <a:ln>
            <a:noFill/>
          </a:ln>
        </p:spPr>
      </p:pic>
      <p:sp>
        <p:nvSpPr>
          <p:cNvPr id="262" name="Google Shape;262;p12"/>
          <p:cNvSpPr/>
          <p:nvPr/>
        </p:nvSpPr>
        <p:spPr>
          <a:xfrm>
            <a:off x="8595360" y="1591056"/>
            <a:ext cx="3182112" cy="1389888"/>
          </a:xfrm>
          <a:prstGeom prst="roundRect">
            <a:avLst>
              <a:gd fmla="val 8772"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63" name="Google Shape;263;p12"/>
          <p:cNvSpPr/>
          <p:nvPr/>
        </p:nvSpPr>
        <p:spPr>
          <a:xfrm>
            <a:off x="8759952" y="1682496"/>
            <a:ext cx="2852928"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900"/>
              <a:buFont typeface="Arial"/>
              <a:buNone/>
            </a:pPr>
            <a:r>
              <a:rPr b="1" i="0" lang="en-US" sz="1900" u="none" cap="none" strike="noStrike">
                <a:solidFill>
                  <a:srgbClr val="2E63A2"/>
                </a:solidFill>
                <a:latin typeface="Arial"/>
                <a:ea typeface="Arial"/>
                <a:cs typeface="Arial"/>
                <a:sym typeface="Arial"/>
              </a:rPr>
              <a:t>Variables usadas</a:t>
            </a:r>
            <a:endParaRPr b="0" i="0" sz="1900" u="none" cap="none" strike="noStrike">
              <a:solidFill>
                <a:schemeClr val="dk1"/>
              </a:solidFill>
              <a:latin typeface="Arial"/>
              <a:ea typeface="Arial"/>
              <a:cs typeface="Arial"/>
              <a:sym typeface="Arial"/>
            </a:endParaRPr>
          </a:p>
        </p:txBody>
      </p:sp>
      <p:sp>
        <p:nvSpPr>
          <p:cNvPr id="264" name="Google Shape;264;p12"/>
          <p:cNvSpPr/>
          <p:nvPr/>
        </p:nvSpPr>
        <p:spPr>
          <a:xfrm>
            <a:off x="8759952" y="2093976"/>
            <a:ext cx="2907792"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Solo audio: danceability, energy, loudness, tempo, etc.</a:t>
            </a:r>
            <a:endParaRPr b="0" i="0" sz="1700" u="none" cap="none" strike="noStrike">
              <a:solidFill>
                <a:schemeClr val="dk1"/>
              </a:solidFill>
              <a:latin typeface="Arial"/>
              <a:ea typeface="Arial"/>
              <a:cs typeface="Arial"/>
              <a:sym typeface="Arial"/>
            </a:endParaRPr>
          </a:p>
        </p:txBody>
      </p:sp>
      <p:sp>
        <p:nvSpPr>
          <p:cNvPr id="265" name="Google Shape;265;p12"/>
          <p:cNvSpPr/>
          <p:nvPr/>
        </p:nvSpPr>
        <p:spPr>
          <a:xfrm>
            <a:off x="8595360" y="3200400"/>
            <a:ext cx="3182112" cy="1389888"/>
          </a:xfrm>
          <a:prstGeom prst="roundRect">
            <a:avLst>
              <a:gd fmla="val 8772"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66" name="Google Shape;266;p12"/>
          <p:cNvSpPr/>
          <p:nvPr/>
        </p:nvSpPr>
        <p:spPr>
          <a:xfrm>
            <a:off x="8759952" y="3291840"/>
            <a:ext cx="2852928"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900"/>
              <a:buFont typeface="Arial"/>
              <a:buNone/>
            </a:pPr>
            <a:r>
              <a:rPr b="1" i="0" lang="en-US" sz="1900" u="none" cap="none" strike="noStrike">
                <a:solidFill>
                  <a:srgbClr val="168A43"/>
                </a:solidFill>
                <a:latin typeface="Arial"/>
                <a:ea typeface="Arial"/>
                <a:cs typeface="Arial"/>
                <a:sym typeface="Arial"/>
              </a:rPr>
              <a:t>Decisión</a:t>
            </a:r>
            <a:endParaRPr b="0" i="0" sz="1900" u="none" cap="none" strike="noStrike">
              <a:solidFill>
                <a:schemeClr val="dk1"/>
              </a:solidFill>
              <a:latin typeface="Arial"/>
              <a:ea typeface="Arial"/>
              <a:cs typeface="Arial"/>
              <a:sym typeface="Arial"/>
            </a:endParaRPr>
          </a:p>
        </p:txBody>
      </p:sp>
      <p:sp>
        <p:nvSpPr>
          <p:cNvPr id="267" name="Google Shape;267;p12"/>
          <p:cNvSpPr/>
          <p:nvPr/>
        </p:nvSpPr>
        <p:spPr>
          <a:xfrm>
            <a:off x="8759952" y="3703320"/>
            <a:ext cx="2907792"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K=4 por método del codo, aunque K=2 tiene mejor Silhouette.</a:t>
            </a:r>
            <a:endParaRPr b="0" i="0" sz="1700" u="none" cap="none" strike="noStrike">
              <a:solidFill>
                <a:schemeClr val="dk1"/>
              </a:solidFill>
              <a:latin typeface="Arial"/>
              <a:ea typeface="Arial"/>
              <a:cs typeface="Arial"/>
              <a:sym typeface="Arial"/>
            </a:endParaRPr>
          </a:p>
        </p:txBody>
      </p:sp>
      <p:sp>
        <p:nvSpPr>
          <p:cNvPr id="268" name="Google Shape;268;p12"/>
          <p:cNvSpPr/>
          <p:nvPr/>
        </p:nvSpPr>
        <p:spPr>
          <a:xfrm>
            <a:off x="8595360" y="4809744"/>
            <a:ext cx="3182112" cy="1389888"/>
          </a:xfrm>
          <a:prstGeom prst="roundRect">
            <a:avLst>
              <a:gd fmla="val 8772"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69" name="Google Shape;269;p12"/>
          <p:cNvSpPr/>
          <p:nvPr/>
        </p:nvSpPr>
        <p:spPr>
          <a:xfrm>
            <a:off x="8759952" y="4901184"/>
            <a:ext cx="2852928"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D94848"/>
              </a:buClr>
              <a:buSzPts val="1900"/>
              <a:buFont typeface="Arial"/>
              <a:buNone/>
            </a:pPr>
            <a:r>
              <a:rPr b="1" i="0" lang="en-US" sz="1900" u="none" cap="none" strike="noStrike">
                <a:solidFill>
                  <a:srgbClr val="D94848"/>
                </a:solidFill>
                <a:latin typeface="Arial"/>
                <a:ea typeface="Arial"/>
                <a:cs typeface="Arial"/>
                <a:sym typeface="Arial"/>
              </a:rPr>
              <a:t>Cuidado</a:t>
            </a:r>
            <a:endParaRPr b="0" i="0" sz="1900" u="none" cap="none" strike="noStrike">
              <a:solidFill>
                <a:schemeClr val="dk1"/>
              </a:solidFill>
              <a:latin typeface="Arial"/>
              <a:ea typeface="Arial"/>
              <a:cs typeface="Arial"/>
              <a:sym typeface="Arial"/>
            </a:endParaRPr>
          </a:p>
        </p:txBody>
      </p:sp>
      <p:sp>
        <p:nvSpPr>
          <p:cNvPr id="270" name="Google Shape;270;p12"/>
          <p:cNvSpPr/>
          <p:nvPr/>
        </p:nvSpPr>
        <p:spPr>
          <a:xfrm>
            <a:off x="8759952" y="5312664"/>
            <a:ext cx="2907792" cy="82296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0" i="0" lang="en-US" sz="1700" u="none" cap="none" strike="noStrike">
                <a:solidFill>
                  <a:srgbClr val="111827"/>
                </a:solidFill>
                <a:latin typeface="Arial"/>
                <a:ea typeface="Arial"/>
                <a:cs typeface="Arial"/>
                <a:sym typeface="Arial"/>
              </a:rPr>
              <a:t>Silhouette ≈ 0,17: separación limitada entre perfiles.</a:t>
            </a:r>
            <a:endParaRPr b="0" i="0" sz="1700" u="none" cap="none" strike="noStrike">
              <a:solidFill>
                <a:schemeClr val="dk1"/>
              </a:solidFill>
              <a:latin typeface="Arial"/>
              <a:ea typeface="Arial"/>
              <a:cs typeface="Arial"/>
              <a:sym typeface="Arial"/>
            </a:endParaRPr>
          </a:p>
        </p:txBody>
      </p:sp>
      <p:sp>
        <p:nvSpPr>
          <p:cNvPr id="271" name="Google Shape;271;p12"/>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Sin popularity ni género para construir los grupos</a:t>
            </a:r>
            <a:endParaRPr b="0" i="0" sz="1200" u="none" cap="none" strike="noStrike">
              <a:solidFill>
                <a:schemeClr val="dk1"/>
              </a:solidFill>
              <a:latin typeface="Arial"/>
              <a:ea typeface="Arial"/>
              <a:cs typeface="Arial"/>
              <a:sym typeface="Arial"/>
            </a:endParaRPr>
          </a:p>
        </p:txBody>
      </p:sp>
      <p:sp>
        <p:nvSpPr>
          <p:cNvPr id="272" name="Google Shape;272;p12"/>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3"/>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09 · K-MEANS</a:t>
            </a:r>
            <a:endParaRPr b="0" i="0" sz="1300" u="none" cap="none" strike="noStrike">
              <a:solidFill>
                <a:schemeClr val="dk1"/>
              </a:solidFill>
              <a:latin typeface="Arial"/>
              <a:ea typeface="Arial"/>
              <a:cs typeface="Arial"/>
              <a:sym typeface="Arial"/>
            </a:endParaRPr>
          </a:p>
        </p:txBody>
      </p:sp>
      <p:sp>
        <p:nvSpPr>
          <p:cNvPr id="279" name="Google Shape;279;p13"/>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¿Qué perfiles encontramos?</a:t>
            </a:r>
            <a:endParaRPr b="0" i="0" sz="3400" u="none" cap="none" strike="noStrike">
              <a:solidFill>
                <a:schemeClr val="dk1"/>
              </a:solidFill>
              <a:latin typeface="Arial"/>
              <a:ea typeface="Arial"/>
              <a:cs typeface="Arial"/>
              <a:sym typeface="Arial"/>
            </a:endParaRPr>
          </a:p>
        </p:txBody>
      </p:sp>
      <p:sp>
        <p:nvSpPr>
          <p:cNvPr id="280" name="Google Shape;280;p13"/>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Los nombres son etiquetas interpretativas asignadas a partir de los centroides.</a:t>
            </a:r>
            <a:endParaRPr b="0" i="0" sz="2000" u="none" cap="none" strike="noStrike">
              <a:solidFill>
                <a:schemeClr val="dk1"/>
              </a:solidFill>
              <a:latin typeface="Arial"/>
              <a:ea typeface="Arial"/>
              <a:cs typeface="Arial"/>
              <a:sym typeface="Arial"/>
            </a:endParaRPr>
          </a:p>
        </p:txBody>
      </p:sp>
      <p:pic>
        <p:nvPicPr>
          <p:cNvPr descr="/mnt/data/ppt_assets/14_centroides.png" id="281" name="Google Shape;281;p13"/>
          <p:cNvPicPr preferRelativeResize="0"/>
          <p:nvPr/>
        </p:nvPicPr>
        <p:blipFill rotWithShape="1">
          <a:blip r:embed="rId3">
            <a:alphaModFix/>
          </a:blip>
          <a:srcRect b="0" l="0" r="0" t="0"/>
          <a:stretch/>
        </p:blipFill>
        <p:spPr>
          <a:xfrm>
            <a:off x="411480" y="2258473"/>
            <a:ext cx="6793992" cy="3255454"/>
          </a:xfrm>
          <a:prstGeom prst="rect">
            <a:avLst/>
          </a:prstGeom>
          <a:noFill/>
          <a:ln>
            <a:noFill/>
          </a:ln>
        </p:spPr>
      </p:pic>
      <p:sp>
        <p:nvSpPr>
          <p:cNvPr id="282" name="Google Shape;282;p13"/>
          <p:cNvSpPr/>
          <p:nvPr/>
        </p:nvSpPr>
        <p:spPr>
          <a:xfrm>
            <a:off x="7479792" y="1572768"/>
            <a:ext cx="4297680" cy="822960"/>
          </a:xfrm>
          <a:prstGeom prst="roundRect">
            <a:avLst>
              <a:gd fmla="val 9524"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83" name="Google Shape;283;p13"/>
          <p:cNvSpPr/>
          <p:nvPr/>
        </p:nvSpPr>
        <p:spPr>
          <a:xfrm>
            <a:off x="7589520" y="1636776"/>
            <a:ext cx="196596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700"/>
              <a:buFont typeface="Arial"/>
              <a:buNone/>
            </a:pPr>
            <a:r>
              <a:rPr b="1" i="0" lang="en-US" sz="1700" u="none" cap="none" strike="noStrike">
                <a:solidFill>
                  <a:srgbClr val="168A43"/>
                </a:solidFill>
                <a:latin typeface="Arial"/>
                <a:ea typeface="Arial"/>
                <a:cs typeface="Arial"/>
                <a:sym typeface="Arial"/>
              </a:rPr>
              <a:t>Bailable / positivo</a:t>
            </a:r>
            <a:endParaRPr b="0" i="0" sz="1700" u="none" cap="none" strike="noStrike">
              <a:solidFill>
                <a:schemeClr val="dk1"/>
              </a:solidFill>
              <a:latin typeface="Arial"/>
              <a:ea typeface="Arial"/>
              <a:cs typeface="Arial"/>
              <a:sym typeface="Arial"/>
            </a:endParaRPr>
          </a:p>
        </p:txBody>
      </p:sp>
      <p:sp>
        <p:nvSpPr>
          <p:cNvPr id="284" name="Google Shape;284;p13"/>
          <p:cNvSpPr/>
          <p:nvPr/>
        </p:nvSpPr>
        <p:spPr>
          <a:xfrm>
            <a:off x="9610344" y="1636776"/>
            <a:ext cx="210312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500"/>
              <a:buFont typeface="Arial"/>
              <a:buNone/>
            </a:pPr>
            <a:r>
              <a:rPr b="0" i="0" lang="en-US" sz="1500" u="none" cap="none" strike="noStrike">
                <a:solidFill>
                  <a:srgbClr val="111827"/>
                </a:solidFill>
                <a:latin typeface="Arial"/>
                <a:ea typeface="Arial"/>
                <a:cs typeface="Arial"/>
                <a:sym typeface="Arial"/>
              </a:rPr>
              <a:t>danceability + valence</a:t>
            </a:r>
            <a:endParaRPr b="0" i="0" sz="1500" u="none" cap="none" strike="noStrike">
              <a:solidFill>
                <a:schemeClr val="dk1"/>
              </a:solidFill>
              <a:latin typeface="Arial"/>
              <a:ea typeface="Arial"/>
              <a:cs typeface="Arial"/>
              <a:sym typeface="Arial"/>
            </a:endParaRPr>
          </a:p>
        </p:txBody>
      </p:sp>
      <p:sp>
        <p:nvSpPr>
          <p:cNvPr id="285" name="Google Shape;285;p13"/>
          <p:cNvSpPr/>
          <p:nvPr/>
        </p:nvSpPr>
        <p:spPr>
          <a:xfrm>
            <a:off x="7589520" y="2020824"/>
            <a:ext cx="4078224" cy="310896"/>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36.819 canciones</a:t>
            </a:r>
            <a:endParaRPr b="0" i="0" sz="1400" u="none" cap="none" strike="noStrike">
              <a:solidFill>
                <a:schemeClr val="dk1"/>
              </a:solidFill>
              <a:latin typeface="Arial"/>
              <a:ea typeface="Arial"/>
              <a:cs typeface="Arial"/>
              <a:sym typeface="Arial"/>
            </a:endParaRPr>
          </a:p>
        </p:txBody>
      </p:sp>
      <p:sp>
        <p:nvSpPr>
          <p:cNvPr id="286" name="Google Shape;286;p13"/>
          <p:cNvSpPr/>
          <p:nvPr/>
        </p:nvSpPr>
        <p:spPr>
          <a:xfrm>
            <a:off x="7479792" y="2505456"/>
            <a:ext cx="4297680" cy="822960"/>
          </a:xfrm>
          <a:prstGeom prst="roundRect">
            <a:avLst>
              <a:gd fmla="val 9524"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87" name="Google Shape;287;p13"/>
          <p:cNvSpPr/>
          <p:nvPr/>
        </p:nvSpPr>
        <p:spPr>
          <a:xfrm>
            <a:off x="7589520" y="2569464"/>
            <a:ext cx="196596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700"/>
              <a:buFont typeface="Arial"/>
              <a:buNone/>
            </a:pPr>
            <a:r>
              <a:rPr b="1" i="0" lang="en-US" sz="1700" u="none" cap="none" strike="noStrike">
                <a:solidFill>
                  <a:srgbClr val="2E63A2"/>
                </a:solidFill>
                <a:latin typeface="Arial"/>
                <a:ea typeface="Arial"/>
                <a:cs typeface="Arial"/>
                <a:sym typeface="Arial"/>
              </a:rPr>
              <a:t>Suave / acústico</a:t>
            </a:r>
            <a:endParaRPr b="0" i="0" sz="1700" u="none" cap="none" strike="noStrike">
              <a:solidFill>
                <a:schemeClr val="dk1"/>
              </a:solidFill>
              <a:latin typeface="Arial"/>
              <a:ea typeface="Arial"/>
              <a:cs typeface="Arial"/>
              <a:sym typeface="Arial"/>
            </a:endParaRPr>
          </a:p>
        </p:txBody>
      </p:sp>
      <p:sp>
        <p:nvSpPr>
          <p:cNvPr id="288" name="Google Shape;288;p13"/>
          <p:cNvSpPr/>
          <p:nvPr/>
        </p:nvSpPr>
        <p:spPr>
          <a:xfrm>
            <a:off x="9610344" y="2569464"/>
            <a:ext cx="210312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500"/>
              <a:buFont typeface="Arial"/>
              <a:buNone/>
            </a:pPr>
            <a:r>
              <a:rPr b="0" i="0" lang="en-US" sz="1500" u="none" cap="none" strike="noStrike">
                <a:solidFill>
                  <a:srgbClr val="111827"/>
                </a:solidFill>
                <a:latin typeface="Arial"/>
                <a:ea typeface="Arial"/>
                <a:cs typeface="Arial"/>
                <a:sym typeface="Arial"/>
              </a:rPr>
              <a:t>acousticness alta</a:t>
            </a:r>
            <a:endParaRPr b="0" i="0" sz="1500" u="none" cap="none" strike="noStrike">
              <a:solidFill>
                <a:schemeClr val="dk1"/>
              </a:solidFill>
              <a:latin typeface="Arial"/>
              <a:ea typeface="Arial"/>
              <a:cs typeface="Arial"/>
              <a:sym typeface="Arial"/>
            </a:endParaRPr>
          </a:p>
        </p:txBody>
      </p:sp>
      <p:sp>
        <p:nvSpPr>
          <p:cNvPr id="289" name="Google Shape;289;p13"/>
          <p:cNvSpPr/>
          <p:nvPr/>
        </p:nvSpPr>
        <p:spPr>
          <a:xfrm>
            <a:off x="7589520" y="2953512"/>
            <a:ext cx="4078224" cy="310896"/>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18.601 canciones</a:t>
            </a:r>
            <a:endParaRPr b="0" i="0" sz="1400" u="none" cap="none" strike="noStrike">
              <a:solidFill>
                <a:schemeClr val="dk1"/>
              </a:solidFill>
              <a:latin typeface="Arial"/>
              <a:ea typeface="Arial"/>
              <a:cs typeface="Arial"/>
              <a:sym typeface="Arial"/>
            </a:endParaRPr>
          </a:p>
        </p:txBody>
      </p:sp>
      <p:sp>
        <p:nvSpPr>
          <p:cNvPr id="290" name="Google Shape;290;p13"/>
          <p:cNvSpPr/>
          <p:nvPr/>
        </p:nvSpPr>
        <p:spPr>
          <a:xfrm>
            <a:off x="7479792" y="3438144"/>
            <a:ext cx="4297680" cy="822960"/>
          </a:xfrm>
          <a:prstGeom prst="roundRect">
            <a:avLst>
              <a:gd fmla="val 9524" name="adj"/>
            </a:avLst>
          </a:prstGeom>
          <a:solidFill>
            <a:srgbClr val="FFF3E8"/>
          </a:solidFill>
          <a:ln cap="flat" cmpd="sng" w="9525">
            <a:solidFill>
              <a:srgbClr val="FFF3E8"/>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91" name="Google Shape;291;p13"/>
          <p:cNvSpPr/>
          <p:nvPr/>
        </p:nvSpPr>
        <p:spPr>
          <a:xfrm>
            <a:off x="7589520" y="3502152"/>
            <a:ext cx="196596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E07A1F"/>
              </a:buClr>
              <a:buSzPts val="1700"/>
              <a:buFont typeface="Arial"/>
              <a:buNone/>
            </a:pPr>
            <a:r>
              <a:rPr b="1" i="0" lang="en-US" sz="1700" u="none" cap="none" strike="noStrike">
                <a:solidFill>
                  <a:srgbClr val="E07A1F"/>
                </a:solidFill>
                <a:latin typeface="Arial"/>
                <a:ea typeface="Arial"/>
                <a:cs typeface="Arial"/>
                <a:sym typeface="Arial"/>
              </a:rPr>
              <a:t>En vivo / hablado</a:t>
            </a:r>
            <a:endParaRPr b="0" i="0" sz="1700" u="none" cap="none" strike="noStrike">
              <a:solidFill>
                <a:schemeClr val="dk1"/>
              </a:solidFill>
              <a:latin typeface="Arial"/>
              <a:ea typeface="Arial"/>
              <a:cs typeface="Arial"/>
              <a:sym typeface="Arial"/>
            </a:endParaRPr>
          </a:p>
        </p:txBody>
      </p:sp>
      <p:sp>
        <p:nvSpPr>
          <p:cNvPr id="292" name="Google Shape;292;p13"/>
          <p:cNvSpPr/>
          <p:nvPr/>
        </p:nvSpPr>
        <p:spPr>
          <a:xfrm>
            <a:off x="9610344" y="3502152"/>
            <a:ext cx="210312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500"/>
              <a:buFont typeface="Arial"/>
              <a:buNone/>
            </a:pPr>
            <a:r>
              <a:rPr b="0" i="0" lang="en-US" sz="1500" u="none" cap="none" strike="noStrike">
                <a:solidFill>
                  <a:srgbClr val="111827"/>
                </a:solidFill>
                <a:latin typeface="Arial"/>
                <a:ea typeface="Arial"/>
                <a:cs typeface="Arial"/>
                <a:sym typeface="Arial"/>
              </a:rPr>
              <a:t>liveness + speechiness</a:t>
            </a:r>
            <a:endParaRPr b="0" i="0" sz="1500" u="none" cap="none" strike="noStrike">
              <a:solidFill>
                <a:schemeClr val="dk1"/>
              </a:solidFill>
              <a:latin typeface="Arial"/>
              <a:ea typeface="Arial"/>
              <a:cs typeface="Arial"/>
              <a:sym typeface="Arial"/>
            </a:endParaRPr>
          </a:p>
        </p:txBody>
      </p:sp>
      <p:sp>
        <p:nvSpPr>
          <p:cNvPr id="293" name="Google Shape;293;p13"/>
          <p:cNvSpPr/>
          <p:nvPr/>
        </p:nvSpPr>
        <p:spPr>
          <a:xfrm>
            <a:off x="7589520" y="3886200"/>
            <a:ext cx="4078224" cy="310896"/>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7.003 canciones</a:t>
            </a:r>
            <a:endParaRPr b="0" i="0" sz="1400" u="none" cap="none" strike="noStrike">
              <a:solidFill>
                <a:schemeClr val="dk1"/>
              </a:solidFill>
              <a:latin typeface="Arial"/>
              <a:ea typeface="Arial"/>
              <a:cs typeface="Arial"/>
              <a:sym typeface="Arial"/>
            </a:endParaRPr>
          </a:p>
        </p:txBody>
      </p:sp>
      <p:sp>
        <p:nvSpPr>
          <p:cNvPr id="294" name="Google Shape;294;p13"/>
          <p:cNvSpPr/>
          <p:nvPr/>
        </p:nvSpPr>
        <p:spPr>
          <a:xfrm>
            <a:off x="7479792" y="4370832"/>
            <a:ext cx="4297680" cy="822960"/>
          </a:xfrm>
          <a:prstGeom prst="roundRect">
            <a:avLst>
              <a:gd fmla="val 9524"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95" name="Google Shape;295;p13"/>
          <p:cNvSpPr/>
          <p:nvPr/>
        </p:nvSpPr>
        <p:spPr>
          <a:xfrm>
            <a:off x="7589520" y="4434840"/>
            <a:ext cx="196596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8A6D00"/>
              </a:buClr>
              <a:buSzPts val="1700"/>
              <a:buFont typeface="Arial"/>
              <a:buNone/>
            </a:pPr>
            <a:r>
              <a:rPr b="1" i="0" lang="en-US" sz="1700" u="none" cap="none" strike="noStrike">
                <a:solidFill>
                  <a:srgbClr val="8A6D00"/>
                </a:solidFill>
                <a:latin typeface="Arial"/>
                <a:ea typeface="Arial"/>
                <a:cs typeface="Arial"/>
                <a:sym typeface="Arial"/>
              </a:rPr>
              <a:t>Intenso / rápido</a:t>
            </a:r>
            <a:endParaRPr b="0" i="0" sz="1700" u="none" cap="none" strike="noStrike">
              <a:solidFill>
                <a:schemeClr val="dk1"/>
              </a:solidFill>
              <a:latin typeface="Arial"/>
              <a:ea typeface="Arial"/>
              <a:cs typeface="Arial"/>
              <a:sym typeface="Arial"/>
            </a:endParaRPr>
          </a:p>
        </p:txBody>
      </p:sp>
      <p:sp>
        <p:nvSpPr>
          <p:cNvPr id="296" name="Google Shape;296;p13"/>
          <p:cNvSpPr/>
          <p:nvPr/>
        </p:nvSpPr>
        <p:spPr>
          <a:xfrm>
            <a:off x="9610344" y="4434840"/>
            <a:ext cx="2103120" cy="384048"/>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500"/>
              <a:buFont typeface="Arial"/>
              <a:buNone/>
            </a:pPr>
            <a:r>
              <a:rPr b="0" i="0" lang="en-US" sz="1500" u="none" cap="none" strike="noStrike">
                <a:solidFill>
                  <a:srgbClr val="111827"/>
                </a:solidFill>
                <a:latin typeface="Arial"/>
                <a:ea typeface="Arial"/>
                <a:cs typeface="Arial"/>
                <a:sym typeface="Arial"/>
              </a:rPr>
              <a:t>energía + tempo</a:t>
            </a:r>
            <a:endParaRPr b="0" i="0" sz="1500" u="none" cap="none" strike="noStrike">
              <a:solidFill>
                <a:schemeClr val="dk1"/>
              </a:solidFill>
              <a:latin typeface="Arial"/>
              <a:ea typeface="Arial"/>
              <a:cs typeface="Arial"/>
              <a:sym typeface="Arial"/>
            </a:endParaRPr>
          </a:p>
        </p:txBody>
      </p:sp>
      <p:sp>
        <p:nvSpPr>
          <p:cNvPr id="297" name="Google Shape;297;p13"/>
          <p:cNvSpPr/>
          <p:nvPr/>
        </p:nvSpPr>
        <p:spPr>
          <a:xfrm>
            <a:off x="7589520" y="4818888"/>
            <a:ext cx="4078224" cy="310896"/>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6B7280"/>
              </a:buClr>
              <a:buSzPts val="1400"/>
              <a:buFont typeface="Arial"/>
              <a:buNone/>
            </a:pPr>
            <a:r>
              <a:rPr b="0" i="0" lang="en-US" sz="1400" u="none" cap="none" strike="noStrike">
                <a:solidFill>
                  <a:srgbClr val="6B7280"/>
                </a:solidFill>
                <a:latin typeface="Arial"/>
                <a:ea typeface="Arial"/>
                <a:cs typeface="Arial"/>
                <a:sym typeface="Arial"/>
              </a:rPr>
              <a:t>27.317 canciones</a:t>
            </a:r>
            <a:endParaRPr b="0" i="0" sz="1400" u="none" cap="none" strike="noStrike">
              <a:solidFill>
                <a:schemeClr val="dk1"/>
              </a:solidFill>
              <a:latin typeface="Arial"/>
              <a:ea typeface="Arial"/>
              <a:cs typeface="Arial"/>
              <a:sym typeface="Arial"/>
            </a:endParaRPr>
          </a:p>
        </p:txBody>
      </p:sp>
      <p:sp>
        <p:nvSpPr>
          <p:cNvPr id="298" name="Google Shape;298;p13"/>
          <p:cNvSpPr/>
          <p:nvPr/>
        </p:nvSpPr>
        <p:spPr>
          <a:xfrm>
            <a:off x="7479792" y="5413248"/>
            <a:ext cx="4297680" cy="786384"/>
          </a:xfrm>
          <a:prstGeom prst="roundRect">
            <a:avLst>
              <a:gd fmla="val 16000"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299" name="Google Shape;299;p13"/>
          <p:cNvSpPr/>
          <p:nvPr/>
        </p:nvSpPr>
        <p:spPr>
          <a:xfrm>
            <a:off x="7552944" y="5413248"/>
            <a:ext cx="4151376" cy="786384"/>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D94848"/>
              </a:buClr>
              <a:buSzPts val="1600"/>
              <a:buFont typeface="Arial"/>
              <a:buNone/>
            </a:pPr>
            <a:r>
              <a:rPr b="1" i="0" lang="en-US" sz="1600" u="none" cap="none" strike="noStrike">
                <a:solidFill>
                  <a:srgbClr val="D94848"/>
                </a:solidFill>
                <a:latin typeface="Arial"/>
                <a:ea typeface="Arial"/>
                <a:cs typeface="Arial"/>
                <a:sym typeface="Arial"/>
              </a:rPr>
              <a:t>Los clusters describen sonido; no son géneros oficiales ni etiquetas generadas automáticamente.</a:t>
            </a:r>
            <a:endParaRPr b="0" i="0" sz="1600" u="none" cap="none" strike="noStrike">
              <a:solidFill>
                <a:schemeClr val="dk1"/>
              </a:solidFill>
              <a:latin typeface="Arial"/>
              <a:ea typeface="Arial"/>
              <a:cs typeface="Arial"/>
              <a:sym typeface="Arial"/>
            </a:endParaRPr>
          </a:p>
        </p:txBody>
      </p:sp>
      <p:sp>
        <p:nvSpPr>
          <p:cNvPr id="300" name="Google Shape;300;p13"/>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Resultado no supervisado: perfiles descriptivos</a:t>
            </a:r>
            <a:endParaRPr b="0" i="0" sz="1200" u="none" cap="none" strike="noStrike">
              <a:solidFill>
                <a:schemeClr val="dk1"/>
              </a:solidFill>
              <a:latin typeface="Arial"/>
              <a:ea typeface="Arial"/>
              <a:cs typeface="Arial"/>
              <a:sym typeface="Arial"/>
            </a:endParaRPr>
          </a:p>
        </p:txBody>
      </p:sp>
      <p:sp>
        <p:nvSpPr>
          <p:cNvPr id="301" name="Google Shape;301;p13"/>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4"/>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10 · INTERPRETACIÓN DE CLUSTERS</a:t>
            </a:r>
            <a:endParaRPr b="0" i="0" sz="1300" u="none" cap="none" strike="noStrike">
              <a:solidFill>
                <a:schemeClr val="dk1"/>
              </a:solidFill>
              <a:latin typeface="Arial"/>
              <a:ea typeface="Arial"/>
              <a:cs typeface="Arial"/>
              <a:sym typeface="Arial"/>
            </a:endParaRPr>
          </a:p>
        </p:txBody>
      </p:sp>
      <p:sp>
        <p:nvSpPr>
          <p:cNvPr id="308" name="Google Shape;308;p14"/>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¿Qué tan separados están realmente?</a:t>
            </a:r>
            <a:endParaRPr b="0" i="0" sz="3400" u="none" cap="none" strike="noStrike">
              <a:solidFill>
                <a:schemeClr val="dk1"/>
              </a:solidFill>
              <a:latin typeface="Arial"/>
              <a:ea typeface="Arial"/>
              <a:cs typeface="Arial"/>
              <a:sym typeface="Arial"/>
            </a:endParaRPr>
          </a:p>
        </p:txBody>
      </p:sp>
      <p:sp>
        <p:nvSpPr>
          <p:cNvPr id="309" name="Google Shape;309;p14"/>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PCA ayuda a visualizar la estructura, pero solo muestra parte de la variabilidad.</a:t>
            </a:r>
            <a:endParaRPr b="0" i="0" sz="2000" u="none" cap="none" strike="noStrike">
              <a:solidFill>
                <a:schemeClr val="dk1"/>
              </a:solidFill>
              <a:latin typeface="Arial"/>
              <a:ea typeface="Arial"/>
              <a:cs typeface="Arial"/>
              <a:sym typeface="Arial"/>
            </a:endParaRPr>
          </a:p>
        </p:txBody>
      </p:sp>
      <p:pic>
        <p:nvPicPr>
          <p:cNvPr descr="/mnt/data/ppt_assets/15_clusters_pca.png" id="310" name="Google Shape;310;p14"/>
          <p:cNvPicPr preferRelativeResize="0"/>
          <p:nvPr/>
        </p:nvPicPr>
        <p:blipFill rotWithShape="1">
          <a:blip r:embed="rId3">
            <a:alphaModFix/>
          </a:blip>
          <a:srcRect b="0" l="0" r="0" t="0"/>
          <a:stretch/>
        </p:blipFill>
        <p:spPr>
          <a:xfrm>
            <a:off x="411480" y="1517904"/>
            <a:ext cx="6842526" cy="4681728"/>
          </a:xfrm>
          <a:prstGeom prst="rect">
            <a:avLst/>
          </a:prstGeom>
          <a:noFill/>
          <a:ln>
            <a:noFill/>
          </a:ln>
        </p:spPr>
      </p:pic>
      <p:sp>
        <p:nvSpPr>
          <p:cNvPr id="311" name="Google Shape;311;p14"/>
          <p:cNvSpPr/>
          <p:nvPr/>
        </p:nvSpPr>
        <p:spPr>
          <a:xfrm>
            <a:off x="7546614" y="1554480"/>
            <a:ext cx="4230858" cy="950976"/>
          </a:xfrm>
          <a:prstGeom prst="roundRect">
            <a:avLst>
              <a:gd fmla="val 9804"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12" name="Google Shape;312;p14"/>
          <p:cNvSpPr/>
          <p:nvPr/>
        </p:nvSpPr>
        <p:spPr>
          <a:xfrm>
            <a:off x="7729494" y="1627632"/>
            <a:ext cx="3865098" cy="34747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800"/>
              <a:buFont typeface="Arial"/>
              <a:buNone/>
            </a:pPr>
            <a:r>
              <a:rPr b="1" i="0" lang="en-US" sz="1800" u="none" cap="none" strike="noStrike">
                <a:solidFill>
                  <a:srgbClr val="168A43"/>
                </a:solidFill>
                <a:latin typeface="Arial"/>
                <a:ea typeface="Arial"/>
                <a:cs typeface="Arial"/>
                <a:sym typeface="Arial"/>
              </a:rPr>
              <a:t>PCA</a:t>
            </a:r>
            <a:endParaRPr b="0" i="0" sz="1800" u="none" cap="none" strike="noStrike">
              <a:solidFill>
                <a:schemeClr val="dk1"/>
              </a:solidFill>
              <a:latin typeface="Arial"/>
              <a:ea typeface="Arial"/>
              <a:cs typeface="Arial"/>
              <a:sym typeface="Arial"/>
            </a:endParaRPr>
          </a:p>
        </p:txBody>
      </p:sp>
      <p:sp>
        <p:nvSpPr>
          <p:cNvPr id="313" name="Google Shape;313;p14"/>
          <p:cNvSpPr/>
          <p:nvPr/>
        </p:nvSpPr>
        <p:spPr>
          <a:xfrm>
            <a:off x="7729494" y="1975104"/>
            <a:ext cx="3956538" cy="43891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PC1 + PC2 ≈ 48% de la variabilidad</a:t>
            </a:r>
            <a:endParaRPr b="0" i="0" sz="1700" u="none" cap="none" strike="noStrike">
              <a:solidFill>
                <a:schemeClr val="dk1"/>
              </a:solidFill>
              <a:latin typeface="Arial"/>
              <a:ea typeface="Arial"/>
              <a:cs typeface="Arial"/>
              <a:sym typeface="Arial"/>
            </a:endParaRPr>
          </a:p>
        </p:txBody>
      </p:sp>
      <p:sp>
        <p:nvSpPr>
          <p:cNvPr id="314" name="Google Shape;314;p14"/>
          <p:cNvSpPr/>
          <p:nvPr/>
        </p:nvSpPr>
        <p:spPr>
          <a:xfrm>
            <a:off x="7546614" y="2743200"/>
            <a:ext cx="4230858" cy="1152144"/>
          </a:xfrm>
          <a:prstGeom prst="roundRect">
            <a:avLst>
              <a:gd fmla="val 9804" name="adj"/>
            </a:avLst>
          </a:prstGeom>
          <a:solidFill>
            <a:srgbClr val="FDECEA"/>
          </a:solidFill>
          <a:ln cap="flat" cmpd="sng" w="9525">
            <a:solidFill>
              <a:srgbClr val="FDECEA"/>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15" name="Google Shape;315;p14"/>
          <p:cNvSpPr/>
          <p:nvPr/>
        </p:nvSpPr>
        <p:spPr>
          <a:xfrm>
            <a:off x="7729494" y="2816352"/>
            <a:ext cx="3865098" cy="34747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D94848"/>
              </a:buClr>
              <a:buSzPts val="1800"/>
              <a:buFont typeface="Arial"/>
              <a:buNone/>
            </a:pPr>
            <a:r>
              <a:rPr b="1" i="0" lang="en-US" sz="1800" u="none" cap="none" strike="noStrike">
                <a:solidFill>
                  <a:srgbClr val="D94848"/>
                </a:solidFill>
                <a:latin typeface="Arial"/>
                <a:ea typeface="Arial"/>
                <a:cs typeface="Arial"/>
                <a:sym typeface="Arial"/>
              </a:rPr>
              <a:t>Separación</a:t>
            </a:r>
            <a:endParaRPr b="0" i="0" sz="1800" u="none" cap="none" strike="noStrike">
              <a:solidFill>
                <a:schemeClr val="dk1"/>
              </a:solidFill>
              <a:latin typeface="Arial"/>
              <a:ea typeface="Arial"/>
              <a:cs typeface="Arial"/>
              <a:sym typeface="Arial"/>
            </a:endParaRPr>
          </a:p>
        </p:txBody>
      </p:sp>
      <p:sp>
        <p:nvSpPr>
          <p:cNvPr id="316" name="Google Shape;316;p14"/>
          <p:cNvSpPr/>
          <p:nvPr/>
        </p:nvSpPr>
        <p:spPr>
          <a:xfrm>
            <a:off x="7729494" y="3182112"/>
            <a:ext cx="3956538" cy="64008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Hay estructura visible, pero también solapamiento.</a:t>
            </a:r>
            <a:endParaRPr b="0" i="0" sz="1700" u="none" cap="none" strike="noStrike">
              <a:solidFill>
                <a:schemeClr val="dk1"/>
              </a:solidFill>
              <a:latin typeface="Arial"/>
              <a:ea typeface="Arial"/>
              <a:cs typeface="Arial"/>
              <a:sym typeface="Arial"/>
            </a:endParaRPr>
          </a:p>
        </p:txBody>
      </p:sp>
      <p:sp>
        <p:nvSpPr>
          <p:cNvPr id="317" name="Google Shape;317;p14"/>
          <p:cNvSpPr/>
          <p:nvPr/>
        </p:nvSpPr>
        <p:spPr>
          <a:xfrm>
            <a:off x="7546614" y="4133088"/>
            <a:ext cx="4230858" cy="1152144"/>
          </a:xfrm>
          <a:prstGeom prst="roundRect">
            <a:avLst>
              <a:gd fmla="val 9091"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18" name="Google Shape;318;p14"/>
          <p:cNvSpPr/>
          <p:nvPr/>
        </p:nvSpPr>
        <p:spPr>
          <a:xfrm>
            <a:off x="7729494" y="4206240"/>
            <a:ext cx="3865098" cy="34747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800"/>
              <a:buFont typeface="Arial"/>
              <a:buNone/>
            </a:pPr>
            <a:r>
              <a:rPr b="1" i="0" lang="en-US" sz="1800" u="none" cap="none" strike="noStrike">
                <a:solidFill>
                  <a:srgbClr val="2E63A2"/>
                </a:solidFill>
                <a:latin typeface="Arial"/>
                <a:ea typeface="Arial"/>
                <a:cs typeface="Arial"/>
                <a:sym typeface="Arial"/>
              </a:rPr>
              <a:t>Popularidad</a:t>
            </a:r>
            <a:endParaRPr b="0" i="0" sz="1800" u="none" cap="none" strike="noStrike">
              <a:solidFill>
                <a:schemeClr val="dk1"/>
              </a:solidFill>
              <a:latin typeface="Arial"/>
              <a:ea typeface="Arial"/>
              <a:cs typeface="Arial"/>
              <a:sym typeface="Arial"/>
            </a:endParaRPr>
          </a:p>
        </p:txBody>
      </p:sp>
      <p:sp>
        <p:nvSpPr>
          <p:cNvPr id="319" name="Google Shape;319;p14"/>
          <p:cNvSpPr/>
          <p:nvPr/>
        </p:nvSpPr>
        <p:spPr>
          <a:xfrm>
            <a:off x="7729494" y="4572000"/>
            <a:ext cx="3956538" cy="640080"/>
          </a:xfrm>
          <a:prstGeom prst="rect">
            <a:avLst/>
          </a:prstGeom>
          <a:noFill/>
          <a:ln>
            <a:noFill/>
          </a:ln>
        </p:spPr>
        <p:txBody>
          <a:bodyPr anchorCtr="0" anchor="t" bIns="18288" lIns="27432" spcFirstLastPara="1" rIns="27432" wrap="square" tIns="18288">
            <a:normAutofit/>
          </a:bodyPr>
          <a:lstStyle/>
          <a:p>
            <a:pPr indent="0" lvl="0" marL="0" marR="0" rtl="0" algn="l">
              <a:spcBef>
                <a:spcPts val="0"/>
              </a:spcBef>
              <a:spcAft>
                <a:spcPts val="0"/>
              </a:spcAft>
              <a:buClr>
                <a:srgbClr val="111827"/>
              </a:buClr>
              <a:buSzPts val="1700"/>
              <a:buFont typeface="Arial"/>
              <a:buNone/>
            </a:pPr>
            <a:r>
              <a:rPr b="1" i="0" lang="en-US" sz="1700" u="none" cap="none" strike="noStrike">
                <a:solidFill>
                  <a:srgbClr val="111827"/>
                </a:solidFill>
                <a:latin typeface="Arial"/>
                <a:ea typeface="Arial"/>
                <a:cs typeface="Arial"/>
                <a:sym typeface="Arial"/>
              </a:rPr>
              <a:t>Los perfiles tienen popularity media similar.</a:t>
            </a:r>
            <a:endParaRPr b="0" i="0" sz="1700" u="none" cap="none" strike="noStrike">
              <a:solidFill>
                <a:schemeClr val="dk1"/>
              </a:solidFill>
              <a:latin typeface="Arial"/>
              <a:ea typeface="Arial"/>
              <a:cs typeface="Arial"/>
              <a:sym typeface="Arial"/>
            </a:endParaRPr>
          </a:p>
        </p:txBody>
      </p:sp>
      <p:sp>
        <p:nvSpPr>
          <p:cNvPr id="320" name="Google Shape;320;p14"/>
          <p:cNvSpPr/>
          <p:nvPr/>
        </p:nvSpPr>
        <p:spPr>
          <a:xfrm>
            <a:off x="7546614" y="5486400"/>
            <a:ext cx="4230858" cy="713232"/>
          </a:xfrm>
          <a:prstGeom prst="roundRect">
            <a:avLst>
              <a:gd fmla="val 16667"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21" name="Google Shape;321;p14"/>
          <p:cNvSpPr/>
          <p:nvPr/>
        </p:nvSpPr>
        <p:spPr>
          <a:xfrm>
            <a:off x="7619766" y="5486400"/>
            <a:ext cx="4084554" cy="713232"/>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1700"/>
              <a:buFont typeface="Arial"/>
              <a:buNone/>
            </a:pPr>
            <a:r>
              <a:rPr b="1" i="0" lang="en-US" sz="1700" u="none" cap="none" strike="noStrike">
                <a:solidFill>
                  <a:srgbClr val="8A6D00"/>
                </a:solidFill>
                <a:latin typeface="Arial"/>
                <a:ea typeface="Arial"/>
                <a:cs typeface="Arial"/>
                <a:sym typeface="Arial"/>
              </a:rPr>
              <a:t>Sirven para describir el catálogo, no para separar canciones populares.</a:t>
            </a:r>
            <a:endParaRPr b="0" i="0" sz="1700" u="none" cap="none" strike="noStrike">
              <a:solidFill>
                <a:schemeClr val="dk1"/>
              </a:solidFill>
              <a:latin typeface="Arial"/>
              <a:ea typeface="Arial"/>
              <a:cs typeface="Arial"/>
              <a:sym typeface="Arial"/>
            </a:endParaRPr>
          </a:p>
        </p:txBody>
      </p:sp>
      <p:sp>
        <p:nvSpPr>
          <p:cNvPr id="322" name="Google Shape;322;p14"/>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Evaluación crítica del clustering</a:t>
            </a:r>
            <a:endParaRPr b="0" i="0" sz="1200" u="none" cap="none" strike="noStrike">
              <a:solidFill>
                <a:schemeClr val="dk1"/>
              </a:solidFill>
              <a:latin typeface="Arial"/>
              <a:ea typeface="Arial"/>
              <a:cs typeface="Arial"/>
              <a:sym typeface="Arial"/>
            </a:endParaRPr>
          </a:p>
        </p:txBody>
      </p:sp>
      <p:sp>
        <p:nvSpPr>
          <p:cNvPr id="323" name="Google Shape;323;p14"/>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5"/>
          <p:cNvSpPr/>
          <p:nvPr/>
        </p:nvSpPr>
        <p:spPr>
          <a:xfrm>
            <a:off x="384048" y="219456"/>
            <a:ext cx="7315200" cy="25603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300"/>
              <a:buFont typeface="Arial"/>
              <a:buNone/>
            </a:pPr>
            <a:r>
              <a:rPr b="1" i="0" lang="en-US" sz="1300" u="none" cap="none" strike="noStrike">
                <a:solidFill>
                  <a:srgbClr val="168A43"/>
                </a:solidFill>
                <a:latin typeface="Arial"/>
                <a:ea typeface="Arial"/>
                <a:cs typeface="Arial"/>
                <a:sym typeface="Arial"/>
              </a:rPr>
              <a:t>11 · CIERRE</a:t>
            </a:r>
            <a:endParaRPr b="0" i="0" sz="1300" u="none" cap="none" strike="noStrike">
              <a:solidFill>
                <a:schemeClr val="dk1"/>
              </a:solidFill>
              <a:latin typeface="Arial"/>
              <a:ea typeface="Arial"/>
              <a:cs typeface="Arial"/>
              <a:sym typeface="Arial"/>
            </a:endParaRPr>
          </a:p>
        </p:txBody>
      </p:sp>
      <p:sp>
        <p:nvSpPr>
          <p:cNvPr id="330" name="Google Shape;330;p15"/>
          <p:cNvSpPr/>
          <p:nvPr/>
        </p:nvSpPr>
        <p:spPr>
          <a:xfrm>
            <a:off x="384048" y="475488"/>
            <a:ext cx="11420856" cy="60350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3400"/>
              <a:buFont typeface="Play"/>
              <a:buNone/>
            </a:pPr>
            <a:r>
              <a:rPr b="1" i="0" lang="en-US" sz="3400" u="none" cap="none" strike="noStrike">
                <a:solidFill>
                  <a:srgbClr val="111827"/>
                </a:solidFill>
                <a:latin typeface="Play"/>
                <a:ea typeface="Play"/>
                <a:cs typeface="Play"/>
                <a:sym typeface="Play"/>
              </a:rPr>
              <a:t>Integración y conclusión</a:t>
            </a:r>
            <a:endParaRPr b="0" i="0" sz="3400" u="none" cap="none" strike="noStrike">
              <a:solidFill>
                <a:schemeClr val="dk1"/>
              </a:solidFill>
              <a:latin typeface="Arial"/>
              <a:ea typeface="Arial"/>
              <a:cs typeface="Arial"/>
              <a:sym typeface="Arial"/>
            </a:endParaRPr>
          </a:p>
        </p:txBody>
      </p:sp>
      <p:sp>
        <p:nvSpPr>
          <p:cNvPr id="331" name="Google Shape;331;p15"/>
          <p:cNvSpPr/>
          <p:nvPr/>
        </p:nvSpPr>
        <p:spPr>
          <a:xfrm>
            <a:off x="384048" y="1078992"/>
            <a:ext cx="11420856"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2000"/>
              <a:buFont typeface="Arial"/>
              <a:buNone/>
            </a:pPr>
            <a:r>
              <a:rPr b="0" i="0" lang="en-US" sz="2000" u="none" cap="none" strike="noStrike">
                <a:solidFill>
                  <a:srgbClr val="4B5563"/>
                </a:solidFill>
                <a:latin typeface="Arial"/>
                <a:ea typeface="Arial"/>
                <a:cs typeface="Arial"/>
                <a:sym typeface="Arial"/>
              </a:rPr>
              <a:t>Los dos enfoques responden preguntas distintas y se complementan.</a:t>
            </a:r>
            <a:endParaRPr b="0" i="0" sz="2000" u="none" cap="none" strike="noStrike">
              <a:solidFill>
                <a:schemeClr val="dk1"/>
              </a:solidFill>
              <a:latin typeface="Arial"/>
              <a:ea typeface="Arial"/>
              <a:cs typeface="Arial"/>
              <a:sym typeface="Arial"/>
            </a:endParaRPr>
          </a:p>
        </p:txBody>
      </p:sp>
      <p:sp>
        <p:nvSpPr>
          <p:cNvPr id="332" name="Google Shape;332;p15"/>
          <p:cNvSpPr/>
          <p:nvPr/>
        </p:nvSpPr>
        <p:spPr>
          <a:xfrm>
            <a:off x="411480" y="1609344"/>
            <a:ext cx="5486400" cy="2395728"/>
          </a:xfrm>
          <a:prstGeom prst="roundRect">
            <a:avLst>
              <a:gd fmla="val 5333" name="adj"/>
            </a:avLst>
          </a:prstGeom>
          <a:solidFill>
            <a:srgbClr val="E8F8EE"/>
          </a:solidFill>
          <a:ln cap="flat" cmpd="sng" w="9525">
            <a:solidFill>
              <a:srgbClr val="E8F8EE"/>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33" name="Google Shape;333;p15"/>
          <p:cNvSpPr/>
          <p:nvPr/>
        </p:nvSpPr>
        <p:spPr>
          <a:xfrm>
            <a:off x="731520" y="1755648"/>
            <a:ext cx="4846320"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800"/>
              <a:buFont typeface="Arial"/>
              <a:buNone/>
            </a:pPr>
            <a:r>
              <a:rPr b="1" i="0" lang="en-US" sz="1800" u="none" cap="none" strike="noStrike">
                <a:solidFill>
                  <a:srgbClr val="168A43"/>
                </a:solidFill>
                <a:latin typeface="Arial"/>
                <a:ea typeface="Arial"/>
                <a:cs typeface="Arial"/>
                <a:sym typeface="Arial"/>
              </a:rPr>
              <a:t>Aprendizaje supervisado</a:t>
            </a:r>
            <a:endParaRPr b="0" i="0" sz="1800" u="none" cap="none" strike="noStrike">
              <a:solidFill>
                <a:schemeClr val="dk1"/>
              </a:solidFill>
              <a:latin typeface="Arial"/>
              <a:ea typeface="Arial"/>
              <a:cs typeface="Arial"/>
              <a:sym typeface="Arial"/>
            </a:endParaRPr>
          </a:p>
        </p:txBody>
      </p:sp>
      <p:sp>
        <p:nvSpPr>
          <p:cNvPr id="334" name="Google Shape;334;p15"/>
          <p:cNvSpPr/>
          <p:nvPr/>
        </p:nvSpPr>
        <p:spPr>
          <a:xfrm>
            <a:off x="731520" y="2157984"/>
            <a:ext cx="4937760" cy="89611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800"/>
              <a:buFont typeface="Arial"/>
              <a:buNone/>
            </a:pPr>
            <a:r>
              <a:rPr b="1" i="0" lang="en-US" sz="2800" u="none" cap="none" strike="noStrike">
                <a:solidFill>
                  <a:srgbClr val="111827"/>
                </a:solidFill>
                <a:latin typeface="Arial"/>
                <a:ea typeface="Arial"/>
                <a:cs typeface="Arial"/>
                <a:sym typeface="Arial"/>
              </a:rPr>
              <a:t>Género ayuda mucho a estimar popularity</a:t>
            </a:r>
            <a:endParaRPr b="0" i="0" sz="2800" u="none" cap="none" strike="noStrike">
              <a:solidFill>
                <a:schemeClr val="dk1"/>
              </a:solidFill>
              <a:latin typeface="Arial"/>
              <a:ea typeface="Arial"/>
              <a:cs typeface="Arial"/>
              <a:sym typeface="Arial"/>
            </a:endParaRPr>
          </a:p>
        </p:txBody>
      </p:sp>
      <p:sp>
        <p:nvSpPr>
          <p:cNvPr id="335" name="Google Shape;335;p15"/>
          <p:cNvSpPr/>
          <p:nvPr/>
        </p:nvSpPr>
        <p:spPr>
          <a:xfrm>
            <a:off x="731520" y="3090672"/>
            <a:ext cx="4937760" cy="7863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El Árbol mejora, pero el cambio de información fue más importante que el cambio de algoritmo.</a:t>
            </a:r>
            <a:endParaRPr b="0" i="0" sz="1800" u="none" cap="none" strike="noStrike">
              <a:solidFill>
                <a:schemeClr val="dk1"/>
              </a:solidFill>
              <a:latin typeface="Arial"/>
              <a:ea typeface="Arial"/>
              <a:cs typeface="Arial"/>
              <a:sym typeface="Arial"/>
            </a:endParaRPr>
          </a:p>
        </p:txBody>
      </p:sp>
      <p:sp>
        <p:nvSpPr>
          <p:cNvPr id="336" name="Google Shape;336;p15"/>
          <p:cNvSpPr/>
          <p:nvPr/>
        </p:nvSpPr>
        <p:spPr>
          <a:xfrm>
            <a:off x="6291072" y="1609344"/>
            <a:ext cx="5486400" cy="2395728"/>
          </a:xfrm>
          <a:prstGeom prst="roundRect">
            <a:avLst>
              <a:gd fmla="val 5333" name="adj"/>
            </a:avLst>
          </a:prstGeom>
          <a:solidFill>
            <a:srgbClr val="EAF2FB"/>
          </a:solidFill>
          <a:ln cap="flat" cmpd="sng" w="9525">
            <a:solidFill>
              <a:srgbClr val="EAF2FB"/>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37" name="Google Shape;337;p15"/>
          <p:cNvSpPr/>
          <p:nvPr/>
        </p:nvSpPr>
        <p:spPr>
          <a:xfrm>
            <a:off x="6611112" y="1755648"/>
            <a:ext cx="4846320" cy="365760"/>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2E63A2"/>
              </a:buClr>
              <a:buSzPts val="1800"/>
              <a:buFont typeface="Arial"/>
              <a:buNone/>
            </a:pPr>
            <a:r>
              <a:rPr b="1" i="0" lang="en-US" sz="1800" u="none" cap="none" strike="noStrike">
                <a:solidFill>
                  <a:srgbClr val="2E63A2"/>
                </a:solidFill>
                <a:latin typeface="Arial"/>
                <a:ea typeface="Arial"/>
                <a:cs typeface="Arial"/>
                <a:sym typeface="Arial"/>
              </a:rPr>
              <a:t>Aprendizaje no supervisado</a:t>
            </a:r>
            <a:endParaRPr b="0" i="0" sz="1800" u="none" cap="none" strike="noStrike">
              <a:solidFill>
                <a:schemeClr val="dk1"/>
              </a:solidFill>
              <a:latin typeface="Arial"/>
              <a:ea typeface="Arial"/>
              <a:cs typeface="Arial"/>
              <a:sym typeface="Arial"/>
            </a:endParaRPr>
          </a:p>
        </p:txBody>
      </p:sp>
      <p:sp>
        <p:nvSpPr>
          <p:cNvPr id="338" name="Google Shape;338;p15"/>
          <p:cNvSpPr/>
          <p:nvPr/>
        </p:nvSpPr>
        <p:spPr>
          <a:xfrm>
            <a:off x="6611112" y="2157984"/>
            <a:ext cx="4937760" cy="89611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2800"/>
              <a:buFont typeface="Arial"/>
              <a:buNone/>
            </a:pPr>
            <a:r>
              <a:rPr b="1" i="0" lang="en-US" sz="2800" u="none" cap="none" strike="noStrike">
                <a:solidFill>
                  <a:srgbClr val="111827"/>
                </a:solidFill>
                <a:latin typeface="Arial"/>
                <a:ea typeface="Arial"/>
                <a:cs typeface="Arial"/>
                <a:sym typeface="Arial"/>
              </a:rPr>
              <a:t>El audio organiza perfiles sonoros</a:t>
            </a:r>
            <a:endParaRPr b="0" i="0" sz="2800" u="none" cap="none" strike="noStrike">
              <a:solidFill>
                <a:schemeClr val="dk1"/>
              </a:solidFill>
              <a:latin typeface="Arial"/>
              <a:ea typeface="Arial"/>
              <a:cs typeface="Arial"/>
              <a:sym typeface="Arial"/>
            </a:endParaRPr>
          </a:p>
        </p:txBody>
      </p:sp>
      <p:sp>
        <p:nvSpPr>
          <p:cNvPr id="339" name="Google Shape;339;p15"/>
          <p:cNvSpPr/>
          <p:nvPr/>
        </p:nvSpPr>
        <p:spPr>
          <a:xfrm>
            <a:off x="6611112" y="3090672"/>
            <a:ext cx="4937760" cy="7863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Los perfiles son descriptivos: hay solapamiento y popularidades similares.</a:t>
            </a:r>
            <a:endParaRPr b="0" i="0" sz="1800" u="none" cap="none" strike="noStrike">
              <a:solidFill>
                <a:schemeClr val="dk1"/>
              </a:solidFill>
              <a:latin typeface="Arial"/>
              <a:ea typeface="Arial"/>
              <a:cs typeface="Arial"/>
              <a:sym typeface="Arial"/>
            </a:endParaRPr>
          </a:p>
        </p:txBody>
      </p:sp>
      <p:sp>
        <p:nvSpPr>
          <p:cNvPr id="340" name="Google Shape;340;p15"/>
          <p:cNvSpPr/>
          <p:nvPr/>
        </p:nvSpPr>
        <p:spPr>
          <a:xfrm>
            <a:off x="868680" y="4261104"/>
            <a:ext cx="10451592" cy="987552"/>
          </a:xfrm>
          <a:prstGeom prst="roundRect">
            <a:avLst>
              <a:gd fmla="val 11429" name="adj"/>
            </a:avLst>
          </a:prstGeom>
          <a:solidFill>
            <a:srgbClr val="FFF6D7"/>
          </a:solidFill>
          <a:ln cap="flat" cmpd="sng" w="9525">
            <a:solidFill>
              <a:srgbClr val="FFF6D7"/>
            </a:solidFill>
            <a:prstDash val="solid"/>
            <a:round/>
            <a:headEnd len="sm" w="sm" type="none"/>
            <a:tailEnd len="sm" w="sm" type="none"/>
          </a:ln>
        </p:spPr>
        <p:txBody>
          <a:bodyPr anchorCtr="0" anchor="ctr" bIns="18288" lIns="27432" spcFirstLastPara="1" rIns="27432" wrap="square" tIns="18288">
            <a:normAutofit/>
          </a:bodyPr>
          <a:lstStyle/>
          <a:p>
            <a:pPr indent="0" lvl="0" marL="0" rtl="0" algn="l">
              <a:spcBef>
                <a:spcPts val="0"/>
              </a:spcBef>
              <a:spcAft>
                <a:spcPts val="0"/>
              </a:spcAft>
              <a:buNone/>
            </a:pPr>
            <a:r>
              <a:rPr/>
              <a:t/>
            </a:r>
            <a:endParaRPr/>
          </a:p>
        </p:txBody>
      </p:sp>
      <p:sp>
        <p:nvSpPr>
          <p:cNvPr id="341" name="Google Shape;341;p15"/>
          <p:cNvSpPr/>
          <p:nvPr/>
        </p:nvSpPr>
        <p:spPr>
          <a:xfrm>
            <a:off x="960120" y="4261104"/>
            <a:ext cx="10268712" cy="987552"/>
          </a:xfrm>
          <a:prstGeom prst="rect">
            <a:avLst/>
          </a:prstGeom>
          <a:noFill/>
          <a:ln>
            <a:noFill/>
          </a:ln>
        </p:spPr>
        <p:txBody>
          <a:bodyPr anchorCtr="0" anchor="ctr" bIns="18288" lIns="27432" spcFirstLastPara="1" rIns="27432" wrap="square" tIns="18288">
            <a:normAutofit/>
          </a:bodyPr>
          <a:lstStyle/>
          <a:p>
            <a:pPr indent="0" lvl="0" marL="0" marR="0" rtl="0" algn="ctr">
              <a:spcBef>
                <a:spcPts val="0"/>
              </a:spcBef>
              <a:spcAft>
                <a:spcPts val="0"/>
              </a:spcAft>
              <a:buClr>
                <a:srgbClr val="8A6D00"/>
              </a:buClr>
              <a:buSzPts val="2200"/>
              <a:buFont typeface="Arial"/>
              <a:buNone/>
            </a:pPr>
            <a:r>
              <a:rPr b="1" i="0" lang="en-US" sz="2200" u="none" cap="none" strike="noStrike">
                <a:solidFill>
                  <a:srgbClr val="8A6D00"/>
                </a:solidFill>
                <a:latin typeface="Arial"/>
                <a:ea typeface="Arial"/>
                <a:cs typeface="Arial"/>
                <a:sym typeface="Arial"/>
              </a:rPr>
              <a:t>No hay contradicción: audio aporta poco para estimar popularity, pero sí para describir cómo suena el catálogo.</a:t>
            </a:r>
            <a:endParaRPr b="0" i="0" sz="2200" u="none" cap="none" strike="noStrike">
              <a:solidFill>
                <a:schemeClr val="dk1"/>
              </a:solidFill>
              <a:latin typeface="Arial"/>
              <a:ea typeface="Arial"/>
              <a:cs typeface="Arial"/>
              <a:sym typeface="Arial"/>
            </a:endParaRPr>
          </a:p>
        </p:txBody>
      </p:sp>
      <p:sp>
        <p:nvSpPr>
          <p:cNvPr id="342" name="Google Shape;342;p15"/>
          <p:cNvSpPr/>
          <p:nvPr/>
        </p:nvSpPr>
        <p:spPr>
          <a:xfrm>
            <a:off x="868680" y="5504688"/>
            <a:ext cx="2103120" cy="32918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4B5563"/>
              </a:buClr>
              <a:buSzPts val="1800"/>
              <a:buFont typeface="Arial"/>
              <a:buNone/>
            </a:pPr>
            <a:r>
              <a:rPr b="1" i="0" lang="en-US" sz="1800" u="none" cap="none" strike="noStrike">
                <a:solidFill>
                  <a:srgbClr val="4B5563"/>
                </a:solidFill>
                <a:latin typeface="Arial"/>
                <a:ea typeface="Arial"/>
                <a:cs typeface="Arial"/>
                <a:sym typeface="Arial"/>
              </a:rPr>
              <a:t>Siguiente avance:</a:t>
            </a:r>
            <a:endParaRPr b="0" i="0" sz="1800" u="none" cap="none" strike="noStrike">
              <a:solidFill>
                <a:schemeClr val="dk1"/>
              </a:solidFill>
              <a:latin typeface="Arial"/>
              <a:ea typeface="Arial"/>
              <a:cs typeface="Arial"/>
              <a:sym typeface="Arial"/>
            </a:endParaRPr>
          </a:p>
        </p:txBody>
      </p:sp>
      <p:sp>
        <p:nvSpPr>
          <p:cNvPr id="343" name="Google Shape;343;p15"/>
          <p:cNvSpPr/>
          <p:nvPr/>
        </p:nvSpPr>
        <p:spPr>
          <a:xfrm>
            <a:off x="3017520" y="5468112"/>
            <a:ext cx="8302752" cy="621792"/>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11827"/>
              </a:buClr>
              <a:buSzPts val="1800"/>
              <a:buFont typeface="Arial"/>
              <a:buNone/>
            </a:pPr>
            <a:r>
              <a:rPr b="0" i="0" lang="en-US" sz="1800" u="none" cap="none" strike="noStrike">
                <a:solidFill>
                  <a:srgbClr val="111827"/>
                </a:solidFill>
                <a:latin typeface="Arial"/>
                <a:ea typeface="Arial"/>
                <a:cs typeface="Arial"/>
                <a:sym typeface="Arial"/>
              </a:rPr>
              <a:t>más datos temporales, exposición en playlists, promoción y resultados posteriores; no simplemente un algoritmo más complejo.</a:t>
            </a:r>
            <a:endParaRPr b="0" i="0" sz="1800" u="none" cap="none" strike="noStrike">
              <a:solidFill>
                <a:schemeClr val="dk1"/>
              </a:solidFill>
              <a:latin typeface="Arial"/>
              <a:ea typeface="Arial"/>
              <a:cs typeface="Arial"/>
              <a:sym typeface="Arial"/>
            </a:endParaRPr>
          </a:p>
        </p:txBody>
      </p:sp>
      <p:sp>
        <p:nvSpPr>
          <p:cNvPr id="344" name="Google Shape;344;p15"/>
          <p:cNvSpPr/>
          <p:nvPr/>
        </p:nvSpPr>
        <p:spPr>
          <a:xfrm>
            <a:off x="384048" y="6272784"/>
            <a:ext cx="7772400" cy="237744"/>
          </a:xfrm>
          <a:prstGeom prst="rect">
            <a:avLst/>
          </a:prstGeom>
          <a:noFill/>
          <a:ln>
            <a:noFill/>
          </a:ln>
        </p:spPr>
        <p:txBody>
          <a:bodyPr anchorCtr="0" anchor="ctr" bIns="18288" lIns="27432" spcFirstLastPara="1" rIns="27432" wrap="square" tIns="18288">
            <a:normAutofit/>
          </a:bodyPr>
          <a:lstStyle/>
          <a:p>
            <a:pPr indent="0" lvl="0" marL="0" marR="0" rtl="0" algn="l">
              <a:spcBef>
                <a:spcPts val="0"/>
              </a:spcBef>
              <a:spcAft>
                <a:spcPts val="0"/>
              </a:spcAft>
              <a:buClr>
                <a:srgbClr val="168A43"/>
              </a:buClr>
              <a:buSzPts val="1200"/>
              <a:buFont typeface="Arial"/>
              <a:buNone/>
            </a:pPr>
            <a:r>
              <a:rPr b="1" i="0" lang="en-US" sz="1200" u="none" cap="none" strike="noStrike">
                <a:solidFill>
                  <a:srgbClr val="168A43"/>
                </a:solidFill>
                <a:latin typeface="Arial"/>
                <a:ea typeface="Arial"/>
                <a:cs typeface="Arial"/>
                <a:sym typeface="Arial"/>
              </a:rPr>
              <a:t>Conclusión: el cuello de botella actual son los datos y la evaluación temporal</a:t>
            </a:r>
            <a:endParaRPr b="0" i="0" sz="1200" u="none" cap="none" strike="noStrike">
              <a:solidFill>
                <a:schemeClr val="dk1"/>
              </a:solidFill>
              <a:latin typeface="Arial"/>
              <a:ea typeface="Arial"/>
              <a:cs typeface="Arial"/>
              <a:sym typeface="Arial"/>
            </a:endParaRPr>
          </a:p>
        </p:txBody>
      </p:sp>
      <p:sp>
        <p:nvSpPr>
          <p:cNvPr id="345" name="Google Shape;345;p15"/>
          <p:cNvSpPr txBox="1"/>
          <p:nvPr>
            <p:ph idx="4294967295" type="sldNum"/>
          </p:nvPr>
        </p:nvSpPr>
        <p:spPr>
          <a:xfrm>
            <a:off x="11759184" y="6510528"/>
            <a:ext cx="411480" cy="274320"/>
          </a:xfrm>
          <a:prstGeom prst="rect">
            <a:avLst/>
          </a:prstGeom>
          <a:noFill/>
          <a:ln>
            <a:noFill/>
          </a:ln>
        </p:spPr>
        <p:txBody>
          <a:bodyPr anchorCtr="0" anchor="t" bIns="18288" lIns="27432" spcFirstLastPara="1" rIns="27432" wrap="square" tIns="18288">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280"/>
                </a:solidFill>
                <a:latin typeface="Arial"/>
                <a:ea typeface="Arial"/>
                <a:cs typeface="Arial"/>
                <a:sym typeface="Arial"/>
              </a:rPr>
              <a:t>‹#›</a:t>
            </a:fld>
            <a:endParaRPr b="0" i="0" sz="1000" u="none" cap="none" strike="noStrike">
              <a:solidFill>
                <a:srgbClr val="6B728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